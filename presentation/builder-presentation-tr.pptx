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çılış" id="{af0279a8-d30c-0761-fcca-5d8bfe8065b5}">
          <p14:sldIdLst>
            <p14:sldId id="256"/>
          </p14:sldIdLst>
        </p14:section>
        <p14:section name="Fikir" id="{0732609a-b8fb-6c98-9d22-61a683d055e1}">
          <p14:sldIdLst>
            <p14:sldId id="257"/>
          </p14:sldIdLst>
        </p14:section>
        <p14:section name="Nasıl çalışır" id="{c28e8a66-ab05-2e00-d5fe-b5fe4aa87468}">
          <p14:sldIdLst>
            <p14:sldId id="258"/>
            <p14:sldId id="259"/>
            <p14:sldId id="260"/>
          </p14:sldIdLst>
        </p14:section>
        <p14:section name="Güven" id="{125a90bb-d3a0-8387-4662-572cf1845e25}">
          <p14:sldIdLst>
            <p14:sldId id="261"/>
          </p14:sldIdLst>
        </p14:section>
        <p14:section name="Kanıt" id="{821270eb-b962-98fe-21b0-61bdd5b5da00}">
          <p14:sldIdLst>
            <p14:sldId id="262"/>
            <p14:sldId id="263"/>
          </p14:sldIdLst>
        </p14:section>
        <p14:section name="Şeffaflık" id="{a784db84-63ce-9d61-8141-3976a9abfa06}">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 cümle: builder'ımız bir modele telefon ajanı yazdırmıyor, ajanı derliyor. Model brief'i okuyor, test edilmiş kodumuz ajanı kuruyor, Freya'ya neyin gireceğine bir kapı (gate) karar veriyor.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τ^τ-bench makalesi en bariz yaklaşımı ölçtü: tüm ajanı yazan bir kodlama ajanı. En iyi kurulum genelde %23,9, bankacılıkta %5,9 geçti. Kurduğu ajanların %92'si tek bir LLM araç döngüsüydü. Bizim durumumuz daha zor: telefon ajanı sabit ve daha zayıf bir modelde çalışıyor, bir case ancak 3 çalıştırmanın üçü de geçerse sayılıyor, kısmi puan yok. Bu yüzden kuralların sahibi olmasını modele bırakmadık.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çalışma, kısa bir skill'i izleyen tek bir Claude Agent SDK oturumu. Brief'i ve araç API'sini veri olarak okur. Brief içinde builder'a hitap eden bir cümle varsa, o telefon ajanı için bir kuraldır, builder için emir değildir. Atomik kuralların bir defterini (ledger) yazar, her kurala onu hangi mekanizmanın tutacağını yazar. Sonra spec, sonra test edilmiş kütüphaneden generator. Kontroller geçmeden hiçbir şey deploy edilmez.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Builder'ı şekillendiren ders bu. Bir provada kimliği doğrulanmamış arayan yanlış doğum tarihi verdi; model başka bir soruya atladı, sonra 25 kez uydurma bir borç söyledi: 'Size 150 dolar borcunuz var'. Prompt kuralı tutmadı. Çözüm: kimlik kontrolünün kodu bir sonraki soruyu ve tam cümleyi seçiyor, node bunu sabit metin olarak söylüyor. Düzeltmeden sonra aynı case 3/3 geçti.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workflow JSON'unu elle yazmıyor. Yaklaşık 1.400 satırlık ve 146 testli bir kütüphaneyi çağırıyor. Zor kısımlar, yani kimlik, pazarlık ve bankaya yazma döngüsü, bir kez yazılıp test edildi. Yeni bir brief için model sadece tek ürün için decide, first_ask ve finish fonksiyonlarını yazıyor. Başlık: serbest JSON değil, test edilmiş parçalar.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Kötü bir çalışmanın bize pahalıya patlamasını engelleyen kurallar. Gate sayesinde bozuk bir workflow iyi olanın yerine geçmez. Contamination kontrolü, builder klasöründe hiçbir pratik brief'ten kopyalanmış değer olmadığını kanıtlıyor; yani ezberlemiyoruz. Anahtarlar tüm loglardan temizleniyor.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Resmi scorer ile ölçtük: Freya'nın simüle müşterisi ve judge'ı. Brief B ayrı tutuldu, ondan hiçbir şey düzeltmedik. Kendi pratik brief'lerimiz resmi olanlardan daha zor, çünkü memo'ları kuralları değiştiriyor; bu yüzden bazı hatalar ajanın bizim memomuza uyması, scorer'ın ise eski kuralı beklemesiydi. Bunlar case başına tek çalıştırma; final kuralı 3'te 3, yani bu rakamlar bir eğilim, final skor değil. Örnek builder rakamları ilk günkü baseline çalıştırmalarımızdan.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şeyi değiştirmeden önce her başarısız transkripti okuduk. Bir oturumda 11 hatanın 9'u ajan hatası değildi: test uyuşmazlıkları, platform yavaşlığı, simülatör kalıntıları. Asıl kalan risk platform hızı: 'Evet, onaylıyorum'dan sonraki sessizlik, platformun adım süresi çarpı bizim adım sayımız. Bizde yaklaşık 10, referans ajanda yaklaşık 3 adım ölçtük. Ayrıca gözden geçirmede, üç resmi case'in hiç tetiklemediği çok ürünlü motor hataları bulduk. Bunlar için case yazdık, saklamadık.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Hackathon her çalışma için bir trace istiyor: başlangıç ve bitiş zamanı, her model çağrısı ve tek satırlık amacı, oluşturulanlar ve çalıştırılan testler. Bizimki bir JSON-lines dosyası ve düz metin çıktı. Yanında her ajan mesajının ham dökümü var; böylece bir jüri üyesi builder'ın tam olarak ne gördüğünü ve ne yaptığını okuyabilir. İkisi de yazılmadan önce temizleniyor.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tek bir Türkçe case: bir belge klasörü ve bir banka mock'u. Builder klasörü okuyor, araç API'si mock'un OpenAPI dosyasından geliyor ve brief'in dilinde kuruyor. Organizatörler alanların değişebileceğini söylediği için, API'de olmayan bir gömülü alan build'i API'nin kendi alan adlarıyla durduruyor; yeniden adlandırılmış alanlarla bir build de test ettik. Sıradaki işler dürüst sınırlar slaytındakiler: onaydan sonra daha az adım, kapatmada close_call, çok ürünlü düzeltmeler.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Fikirle kapat: model okur ve cümleyi kurar, kod karar verir ve önemli cümleleri söyler, gate Freya'ya neyin gireceğini korur. Sonra sorulara geç.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1F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lIns="0" tIns="0" rIns="0" bIns="0" rtlCol="0" anchor="t"/>
          <a:lstStyle/>
          <a:p>
            <a:pPr algn="l" indent="0" marL="0">
              <a:buNone/>
            </a:pPr>
            <a:r>
              <a:rPr lang="en-US" sz="4800" b="1" dirty="0">
                <a:solidFill>
                  <a:schemeClr val="bg1"/>
                </a:solidFill>
              </a:rPr>
              <a:t>The Builder</a:t>
            </a:r>
            <a:endParaRPr lang="en-US" sz="4800" dirty="0"/>
          </a:p>
        </p:txBody>
      </p:sp>
      <p:sp>
        <p:nvSpPr>
          <p:cNvPr id="3" name="subtitle"/>
          <p:cNvSpPr txBox="1"/>
          <p:nvPr/>
        </p:nvSpPr>
        <p:spPr>
          <a:xfrm>
            <a:off x="548640" y="2514600"/>
            <a:ext cx="6949440" cy="1097280"/>
          </a:xfrm>
          <a:prstGeom prst="rect">
            <a:avLst/>
          </a:prstGeom>
          <a:noFill/>
          <a:ln/>
        </p:spPr>
        <p:txBody>
          <a:bodyPr wrap="square" lIns="0" tIns="0" rIns="0" bIns="0" rtlCol="0" anchor="t"/>
          <a:lstStyle/>
          <a:p>
            <a:pPr algn="l" indent="0" marL="0">
              <a:buNone/>
            </a:pPr>
            <a:r>
              <a:rPr lang="en-US" sz="2200" dirty="0">
                <a:solidFill>
                  <a:schemeClr val="accent1"/>
                </a:solidFill>
              </a:rPr>
              <a:t>Yazan değil, derleyen bir sistem: bir bankanın brief'ini telefon ajanına nasıl çeviriyoruz</a:t>
            </a:r>
            <a:endParaRPr lang="en-US" sz="2200" dirty="0"/>
          </a:p>
        </p:txBody>
      </p:sp>
      <p:sp>
        <p:nvSpPr>
          <p:cNvPr id="4" name="event"/>
          <p:cNvSpPr txBox="1"/>
          <p:nvPr/>
        </p:nvSpPr>
        <p:spPr>
          <a:xfrm>
            <a:off x="548640" y="4297680"/>
            <a:ext cx="7315200" cy="365760"/>
          </a:xfrm>
          <a:prstGeom prst="rect">
            <a:avLst/>
          </a:prstGeom>
          <a:noFill/>
          <a:ln/>
        </p:spPr>
        <p:txBody>
          <a:bodyPr wrap="square" lIns="0" tIns="0" rIns="0" bIns="0" rtlCol="0" anchor="ctr"/>
          <a:lstStyle/>
          <a:p>
            <a:pPr indent="0" marL="0">
              <a:buNone/>
            </a:pPr>
            <a:r>
              <a:rPr lang="en-US" sz="1400" dirty="0">
                <a:solidFill>
                  <a:schemeClr val="accent5"/>
                </a:solidFill>
              </a:rPr>
              <a:t>Freya x Y Combinator | Build the Builder | 10-11 Ekim 2026</a:t>
            </a:r>
            <a:endParaRPr lang="en-US" sz="1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Kod karar verir, model konuşur</a:t>
            </a:r>
            <a:endParaRPr lang="en-US" sz="3400" dirty="0"/>
          </a:p>
        </p:txBody>
      </p:sp>
      <p:sp>
        <p:nvSpPr>
          <p:cNvPr id="4" name="stat %23,9"/>
          <p:cNvSpPr txBox="1"/>
          <p:nvPr/>
        </p:nvSpPr>
        <p:spPr>
          <a:xfrm>
            <a:off x="548640" y="1188720"/>
            <a:ext cx="2468880" cy="777240"/>
          </a:xfrm>
          <a:prstGeom prst="rect">
            <a:avLst/>
          </a:prstGeom>
          <a:noFill/>
          <a:ln/>
        </p:spPr>
        <p:txBody>
          <a:bodyPr wrap="square" lIns="0" tIns="0" rIns="0" bIns="0" rtlCol="0" anchor="ctr"/>
          <a:lstStyle/>
          <a:p>
            <a:pPr algn="l" indent="0" marL="0">
              <a:buNone/>
            </a:pPr>
            <a:r>
              <a:rPr lang="en-US" sz="4800" b="1" dirty="0">
                <a:solidFill>
                  <a:schemeClr val="accent3"/>
                </a:solidFill>
              </a:rPr>
              <a:t>%23,9</a:t>
            </a:r>
            <a:endParaRPr lang="en-US" sz="4800" dirty="0"/>
          </a:p>
        </p:txBody>
      </p:sp>
      <p:sp>
        <p:nvSpPr>
          <p:cNvPr id="5" name="label %23,9"/>
          <p:cNvSpPr txBox="1"/>
          <p:nvPr/>
        </p:nvSpPr>
        <p:spPr>
          <a:xfrm>
            <a:off x="548640" y="1965960"/>
            <a:ext cx="2468880" cy="640080"/>
          </a:xfrm>
          <a:prstGeom prst="rect">
            <a:avLst/>
          </a:prstGeom>
          <a:noFill/>
          <a:ln/>
        </p:spPr>
        <p:txBody>
          <a:bodyPr wrap="square" lIns="0" tIns="0" rIns="0" bIns="0" rtlCol="0" anchor="t"/>
          <a:lstStyle/>
          <a:p>
            <a:pPr algn="l" indent="0" marL="0">
              <a:buNone/>
            </a:pPr>
            <a:r>
              <a:rPr lang="en-US" sz="1400" dirty="0">
                <a:solidFill>
                  <a:schemeClr val="tx1"/>
                </a:solidFill>
              </a:rPr>
              <a:t>τ^τ-bench'te en iyi kodlama-ajanı builder'ı, genel</a:t>
            </a:r>
            <a:endParaRPr lang="en-US" sz="1400" dirty="0"/>
          </a:p>
        </p:txBody>
      </p:sp>
      <p:sp>
        <p:nvSpPr>
          <p:cNvPr id="6" name="stat %5,9"/>
          <p:cNvSpPr txBox="1"/>
          <p:nvPr/>
        </p:nvSpPr>
        <p:spPr>
          <a:xfrm>
            <a:off x="3337560" y="1188720"/>
            <a:ext cx="2468880" cy="777240"/>
          </a:xfrm>
          <a:prstGeom prst="rect">
            <a:avLst/>
          </a:prstGeom>
          <a:noFill/>
          <a:ln/>
        </p:spPr>
        <p:txBody>
          <a:bodyPr wrap="square" lIns="0" tIns="0" rIns="0" bIns="0" rtlCol="0" anchor="ctr"/>
          <a:lstStyle/>
          <a:p>
            <a:pPr algn="l" indent="0" marL="0">
              <a:buNone/>
            </a:pPr>
            <a:r>
              <a:rPr lang="en-US" sz="4800" b="1" dirty="0">
                <a:solidFill>
                  <a:schemeClr val="accent3"/>
                </a:solidFill>
              </a:rPr>
              <a:t>%5,9</a:t>
            </a:r>
            <a:endParaRPr lang="en-US" sz="4800" dirty="0"/>
          </a:p>
        </p:txBody>
      </p:sp>
      <p:sp>
        <p:nvSpPr>
          <p:cNvPr id="7" name="label %5,9"/>
          <p:cNvSpPr txBox="1"/>
          <p:nvPr/>
        </p:nvSpPr>
        <p:spPr>
          <a:xfrm>
            <a:off x="3337560" y="1965960"/>
            <a:ext cx="2468880" cy="640080"/>
          </a:xfrm>
          <a:prstGeom prst="rect">
            <a:avLst/>
          </a:prstGeom>
          <a:noFill/>
          <a:ln/>
        </p:spPr>
        <p:txBody>
          <a:bodyPr wrap="square" lIns="0" tIns="0" rIns="0" bIns="0" rtlCol="0" anchor="t"/>
          <a:lstStyle/>
          <a:p>
            <a:pPr algn="l" indent="0" marL="0">
              <a:buNone/>
            </a:pPr>
            <a:r>
              <a:rPr lang="en-US" sz="1400" dirty="0">
                <a:solidFill>
                  <a:schemeClr val="tx1"/>
                </a:solidFill>
              </a:rPr>
              <a:t>aynı builder, bankacılık görevlerinde</a:t>
            </a:r>
            <a:endParaRPr lang="en-US" sz="1400" dirty="0"/>
          </a:p>
        </p:txBody>
      </p:sp>
      <p:sp>
        <p:nvSpPr>
          <p:cNvPr id="8" name="stat %92"/>
          <p:cNvSpPr txBox="1"/>
          <p:nvPr/>
        </p:nvSpPr>
        <p:spPr>
          <a:xfrm>
            <a:off x="6126480" y="1188720"/>
            <a:ext cx="2468880" cy="777240"/>
          </a:xfrm>
          <a:prstGeom prst="rect">
            <a:avLst/>
          </a:prstGeom>
          <a:noFill/>
          <a:ln/>
        </p:spPr>
        <p:txBody>
          <a:bodyPr wrap="square" lIns="0" tIns="0" rIns="0" bIns="0" rtlCol="0" anchor="ctr"/>
          <a:lstStyle/>
          <a:p>
            <a:pPr algn="l" indent="0" marL="0">
              <a:buNone/>
            </a:pPr>
            <a:r>
              <a:rPr lang="en-US" sz="4800" b="1" dirty="0">
                <a:solidFill>
                  <a:schemeClr val="accent2"/>
                </a:solidFill>
              </a:rPr>
              <a:t>%92</a:t>
            </a:r>
            <a:endParaRPr lang="en-US" sz="4800" dirty="0"/>
          </a:p>
        </p:txBody>
      </p:sp>
      <p:sp>
        <p:nvSpPr>
          <p:cNvPr id="9" name="label %92"/>
          <p:cNvSpPr txBox="1"/>
          <p:nvPr/>
        </p:nvSpPr>
        <p:spPr>
          <a:xfrm>
            <a:off x="6126480" y="1965960"/>
            <a:ext cx="2468880" cy="640080"/>
          </a:xfrm>
          <a:prstGeom prst="rect">
            <a:avLst/>
          </a:prstGeom>
          <a:noFill/>
          <a:ln/>
        </p:spPr>
        <p:txBody>
          <a:bodyPr wrap="square" lIns="0" tIns="0" rIns="0" bIns="0" rtlCol="0" anchor="t"/>
          <a:lstStyle/>
          <a:p>
            <a:pPr algn="l" indent="0" marL="0">
              <a:buNone/>
            </a:pPr>
            <a:r>
              <a:rPr lang="en-US" sz="1400" dirty="0">
                <a:solidFill>
                  <a:schemeClr val="tx1"/>
                </a:solidFill>
              </a:rPr>
              <a:t>kurduğu ajanlar tek bir LLM araç döngüsüydü</a:t>
            </a:r>
            <a:endParaRPr lang="en-US" sz="1400" dirty="0"/>
          </a:p>
        </p:txBody>
      </p:sp>
      <p:sp>
        <p:nvSpPr>
          <p:cNvPr id="10" name="bet card"/>
          <p:cNvSpPr/>
          <p:nvPr/>
        </p:nvSpPr>
        <p:spPr>
          <a:xfrm>
            <a:off x="548640" y="2971800"/>
            <a:ext cx="804672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1" name="bet text"/>
          <p:cNvSpPr txBox="1"/>
          <p:nvPr/>
        </p:nvSpPr>
        <p:spPr>
          <a:xfrm>
            <a:off x="777240" y="3108960"/>
            <a:ext cx="7589520" cy="1280160"/>
          </a:xfrm>
          <a:prstGeom prst="rect">
            <a:avLst/>
          </a:prstGeom>
          <a:noFill/>
          <a:ln/>
        </p:spPr>
        <p:txBody>
          <a:bodyPr wrap="square" lIns="0" tIns="0" rIns="0" bIns="0" rtlCol="0" anchor="ctr"/>
          <a:lstStyle/>
          <a:p>
            <a:pPr indent="0" marL="0">
              <a:spcAft>
                <a:spcPts val="800"/>
              </a:spcAft>
              <a:buNone/>
            </a:pPr>
            <a:r>
              <a:rPr lang="en-US" sz="1600" b="1" dirty="0">
                <a:solidFill>
                  <a:schemeClr val="tx1"/>
                </a:solidFill>
              </a:rPr>
              <a:t>Bizim durumumuz daha zor: </a:t>
            </a:r>
            <a:pPr indent="0" marL="0">
              <a:spcAft>
                <a:spcPts val="800"/>
              </a:spcAft>
              <a:buNone/>
            </a:pPr>
            <a:r>
              <a:rPr lang="en-US" sz="1600" dirty="0">
                <a:solidFill>
                  <a:schemeClr val="tx1"/>
                </a:solidFill>
              </a:rPr>
              <a:t>sabit ve zayıf bir telefon modeli, 3 çalıştırmanın üçü de geçmeli, kısmi puan yok.</a:t>
            </a:r>
            <a:endParaRPr lang="en-US" sz="1600" dirty="0"/>
          </a:p>
          <a:p>
            <a:pPr indent="0" marL="0">
              <a:spcAft>
                <a:spcPts val="800"/>
              </a:spcAft>
              <a:buNone/>
            </a:pPr>
            <a:r>
              <a:rPr lang="en-US" sz="1600" b="1" dirty="0">
                <a:solidFill>
                  <a:schemeClr val="tx1"/>
                </a:solidFill>
              </a:rPr>
              <a:t>Bu yüzden model okur ve anlar. </a:t>
            </a:r>
            <a:pPr indent="0" marL="0">
              <a:spcAft>
                <a:spcPts val="800"/>
              </a:spcAft>
              <a:buNone/>
            </a:pPr>
            <a:r>
              <a:rPr lang="en-US" sz="1600" dirty="0">
                <a:solidFill>
                  <a:schemeClr val="tx1"/>
                </a:solidFill>
              </a:rPr>
              <a:t>Her tarihi, tutarı, sayacı ve sonucu kod hesaplar; brief'in zorunlu kıldığı her cümleyi kod söyler.</a:t>
            </a:r>
            <a:endParaRPr lang="en-US" sz="16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Bir çalışma: brief'ten ajana</a:t>
            </a:r>
            <a:endParaRPr lang="en-US" sz="3400" dirty="0"/>
          </a:p>
        </p:txBody>
      </p:sp>
      <p:sp>
        <p:nvSpPr>
          <p:cNvPr id="4" name="step 1"/>
          <p:cNvSpPr/>
          <p:nvPr/>
        </p:nvSpPr>
        <p:spPr>
          <a:xfrm>
            <a:off x="548640" y="1188720"/>
            <a:ext cx="256032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5" name="badge 1"/>
          <p:cNvSpPr/>
          <p:nvPr/>
        </p:nvSpPr>
        <p:spPr>
          <a:xfrm>
            <a:off x="685800" y="1325880"/>
            <a:ext cx="411480" cy="411480"/>
          </a:xfrm>
          <a:prstGeom prst="ellipse">
            <a:avLst/>
          </a:prstGeom>
          <a:solidFill>
            <a:schemeClr val="accent1"/>
          </a:solidFill>
          <a:ln w="12700">
            <a:solidFill>
              <a:schemeClr val="accent1"/>
            </a:solidFill>
            <a:prstDash val="solid"/>
          </a:ln>
        </p:spPr>
      </p:sp>
      <p:sp>
        <p:nvSpPr>
          <p:cNvPr id="6" name="badge n 1"/>
          <p:cNvSpPr txBox="1"/>
          <p:nvPr/>
        </p:nvSpPr>
        <p:spPr>
          <a:xfrm>
            <a:off x="685800" y="132588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7" name="step title 1"/>
          <p:cNvSpPr txBox="1"/>
          <p:nvPr/>
        </p:nvSpPr>
        <p:spPr>
          <a:xfrm>
            <a:off x="1188720" y="1325880"/>
            <a:ext cx="1828800" cy="411480"/>
          </a:xfrm>
          <a:prstGeom prst="rect">
            <a:avLst/>
          </a:prstGeom>
          <a:noFill/>
          <a:ln/>
        </p:spPr>
        <p:txBody>
          <a:bodyPr wrap="square" lIns="0" tIns="0" rIns="0" bIns="0" rtlCol="0" anchor="ctr"/>
          <a:lstStyle/>
          <a:p>
            <a:pPr indent="0" marL="0">
              <a:buNone/>
            </a:pPr>
            <a:r>
              <a:rPr lang="en-US" sz="1500" b="1" dirty="0">
                <a:solidFill>
                  <a:schemeClr val="tx1"/>
                </a:solidFill>
              </a:rPr>
              <a:t>Okuma</a:t>
            </a:r>
            <a:endParaRPr lang="en-US" sz="1500" dirty="0"/>
          </a:p>
        </p:txBody>
      </p:sp>
      <p:sp>
        <p:nvSpPr>
          <p:cNvPr id="8" name="step text 1"/>
          <p:cNvSpPr txBox="1"/>
          <p:nvPr/>
        </p:nvSpPr>
        <p:spPr>
          <a:xfrm>
            <a:off x="685800" y="1828800"/>
            <a:ext cx="2286000" cy="777240"/>
          </a:xfrm>
          <a:prstGeom prst="rect">
            <a:avLst/>
          </a:prstGeom>
          <a:noFill/>
          <a:ln/>
        </p:spPr>
        <p:txBody>
          <a:bodyPr wrap="square" lIns="0" tIns="0" rIns="0" bIns="0" rtlCol="0" anchor="t"/>
          <a:lstStyle/>
          <a:p>
            <a:pPr indent="0" marL="0">
              <a:buNone/>
            </a:pPr>
            <a:r>
              <a:rPr lang="en-US" sz="1200" dirty="0">
                <a:solidFill>
                  <a:schemeClr val="tx1"/>
                </a:solidFill>
              </a:rPr>
              <a:t>Brief ve araç API'si veri olarak. Case klasörü tek metne dönüşür: Word, Excel, PDF, görseller.</a:t>
            </a:r>
            <a:endParaRPr lang="en-US" sz="1200" dirty="0"/>
          </a:p>
        </p:txBody>
      </p:sp>
      <p:sp>
        <p:nvSpPr>
          <p:cNvPr id="9" name="step 2"/>
          <p:cNvSpPr/>
          <p:nvPr/>
        </p:nvSpPr>
        <p:spPr>
          <a:xfrm>
            <a:off x="3291840" y="1188720"/>
            <a:ext cx="256032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0" name="badge 2"/>
          <p:cNvSpPr/>
          <p:nvPr/>
        </p:nvSpPr>
        <p:spPr>
          <a:xfrm>
            <a:off x="3429000" y="1325880"/>
            <a:ext cx="411480" cy="411480"/>
          </a:xfrm>
          <a:prstGeom prst="ellipse">
            <a:avLst/>
          </a:prstGeom>
          <a:solidFill>
            <a:schemeClr val="accent1"/>
          </a:solidFill>
          <a:ln w="12700">
            <a:solidFill>
              <a:schemeClr val="accent1"/>
            </a:solidFill>
            <a:prstDash val="solid"/>
          </a:ln>
        </p:spPr>
      </p:sp>
      <p:sp>
        <p:nvSpPr>
          <p:cNvPr id="11" name="badge n 2"/>
          <p:cNvSpPr txBox="1"/>
          <p:nvPr/>
        </p:nvSpPr>
        <p:spPr>
          <a:xfrm>
            <a:off x="3429000" y="132588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2" name="step title 2"/>
          <p:cNvSpPr txBox="1"/>
          <p:nvPr/>
        </p:nvSpPr>
        <p:spPr>
          <a:xfrm>
            <a:off x="3931920" y="1325880"/>
            <a:ext cx="1828800" cy="411480"/>
          </a:xfrm>
          <a:prstGeom prst="rect">
            <a:avLst/>
          </a:prstGeom>
          <a:noFill/>
          <a:ln/>
        </p:spPr>
        <p:txBody>
          <a:bodyPr wrap="square" lIns="0" tIns="0" rIns="0" bIns="0" rtlCol="0" anchor="ctr"/>
          <a:lstStyle/>
          <a:p>
            <a:pPr indent="0" marL="0">
              <a:buNone/>
            </a:pPr>
            <a:r>
              <a:rPr lang="en-US" sz="1500" b="1" dirty="0">
                <a:solidFill>
                  <a:schemeClr val="tx1"/>
                </a:solidFill>
              </a:rPr>
              <a:t>Ledger</a:t>
            </a:r>
            <a:endParaRPr lang="en-US" sz="1500" dirty="0"/>
          </a:p>
        </p:txBody>
      </p:sp>
      <p:sp>
        <p:nvSpPr>
          <p:cNvPr id="13" name="step text 2"/>
          <p:cNvSpPr txBox="1"/>
          <p:nvPr/>
        </p:nvSpPr>
        <p:spPr>
          <a:xfrm>
            <a:off x="3429000" y="1828800"/>
            <a:ext cx="2286000" cy="777240"/>
          </a:xfrm>
          <a:prstGeom prst="rect">
            <a:avLst/>
          </a:prstGeom>
          <a:noFill/>
          <a:ln/>
        </p:spPr>
        <p:txBody>
          <a:bodyPr wrap="square" lIns="0" tIns="0" rIns="0" bIns="0" rtlCol="0" anchor="t"/>
          <a:lstStyle/>
          <a:p>
            <a:pPr indent="0" marL="0">
              <a:buNone/>
            </a:pPr>
            <a:r>
              <a:rPr lang="en-US" sz="1200" dirty="0">
                <a:solidFill>
                  <a:schemeClr val="tx1"/>
                </a:solidFill>
              </a:rPr>
              <a:t>Atomik kurallar; her birinin mekanizması: kod, route, araç, sabit cümle ya da prompt.</a:t>
            </a:r>
            <a:endParaRPr lang="en-US" sz="1200" dirty="0"/>
          </a:p>
        </p:txBody>
      </p:sp>
      <p:sp>
        <p:nvSpPr>
          <p:cNvPr id="14" name="step 3"/>
          <p:cNvSpPr/>
          <p:nvPr/>
        </p:nvSpPr>
        <p:spPr>
          <a:xfrm>
            <a:off x="6035040" y="1188720"/>
            <a:ext cx="256032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5" name="badge 3"/>
          <p:cNvSpPr/>
          <p:nvPr/>
        </p:nvSpPr>
        <p:spPr>
          <a:xfrm>
            <a:off x="6172200" y="1325880"/>
            <a:ext cx="411480" cy="411480"/>
          </a:xfrm>
          <a:prstGeom prst="ellipse">
            <a:avLst/>
          </a:prstGeom>
          <a:solidFill>
            <a:schemeClr val="accent1"/>
          </a:solidFill>
          <a:ln w="12700">
            <a:solidFill>
              <a:schemeClr val="accent1"/>
            </a:solidFill>
            <a:prstDash val="solid"/>
          </a:ln>
        </p:spPr>
      </p:sp>
      <p:sp>
        <p:nvSpPr>
          <p:cNvPr id="16" name="badge n 3"/>
          <p:cNvSpPr txBox="1"/>
          <p:nvPr/>
        </p:nvSpPr>
        <p:spPr>
          <a:xfrm>
            <a:off x="6172200" y="132588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7" name="step title 3"/>
          <p:cNvSpPr txBox="1"/>
          <p:nvPr/>
        </p:nvSpPr>
        <p:spPr>
          <a:xfrm>
            <a:off x="6675120" y="1325880"/>
            <a:ext cx="1828800" cy="411480"/>
          </a:xfrm>
          <a:prstGeom prst="rect">
            <a:avLst/>
          </a:prstGeom>
          <a:noFill/>
          <a:ln/>
        </p:spPr>
        <p:txBody>
          <a:bodyPr wrap="square" lIns="0" tIns="0" rIns="0" bIns="0" rtlCol="0" anchor="ctr"/>
          <a:lstStyle/>
          <a:p>
            <a:pPr indent="0" marL="0">
              <a:buNone/>
            </a:pPr>
            <a:r>
              <a:rPr lang="en-US" sz="1500" b="1" dirty="0">
                <a:solidFill>
                  <a:schemeClr val="tx1"/>
                </a:solidFill>
              </a:rPr>
              <a:t>Spec ve generator</a:t>
            </a:r>
            <a:endParaRPr lang="en-US" sz="1500" dirty="0"/>
          </a:p>
        </p:txBody>
      </p:sp>
      <p:sp>
        <p:nvSpPr>
          <p:cNvPr id="18" name="step text 3"/>
          <p:cNvSpPr txBox="1"/>
          <p:nvPr/>
        </p:nvSpPr>
        <p:spPr>
          <a:xfrm>
            <a:off x="6172200" y="1828800"/>
            <a:ext cx="2286000" cy="777240"/>
          </a:xfrm>
          <a:prstGeom prst="rect">
            <a:avLst/>
          </a:prstGeom>
          <a:noFill/>
          <a:ln/>
        </p:spPr>
        <p:txBody>
          <a:bodyPr wrap="square" lIns="0" tIns="0" rIns="0" bIns="0" rtlCol="0" anchor="t"/>
          <a:lstStyle/>
          <a:p>
            <a:pPr indent="0" marL="0">
              <a:buNone/>
            </a:pPr>
            <a:r>
              <a:rPr lang="en-US" sz="1200" dirty="0">
                <a:solidFill>
                  <a:schemeClr val="tx1"/>
                </a:solidFill>
              </a:rPr>
              <a:t>Tüm değerler spec.json'da. build_agent.py workflow'u kütüphaneden kurar.</a:t>
            </a:r>
            <a:endParaRPr lang="en-US" sz="1200" dirty="0"/>
          </a:p>
        </p:txBody>
      </p:sp>
      <p:sp>
        <p:nvSpPr>
          <p:cNvPr id="19" name="step 4"/>
          <p:cNvSpPr/>
          <p:nvPr/>
        </p:nvSpPr>
        <p:spPr>
          <a:xfrm>
            <a:off x="548640" y="2834640"/>
            <a:ext cx="256032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0" name="badge 4"/>
          <p:cNvSpPr/>
          <p:nvPr/>
        </p:nvSpPr>
        <p:spPr>
          <a:xfrm>
            <a:off x="685800" y="2971800"/>
            <a:ext cx="411480" cy="411480"/>
          </a:xfrm>
          <a:prstGeom prst="ellipse">
            <a:avLst/>
          </a:prstGeom>
          <a:solidFill>
            <a:schemeClr val="accent1"/>
          </a:solidFill>
          <a:ln w="12700">
            <a:solidFill>
              <a:schemeClr val="accent1"/>
            </a:solidFill>
            <a:prstDash val="solid"/>
          </a:ln>
        </p:spPr>
      </p:sp>
      <p:sp>
        <p:nvSpPr>
          <p:cNvPr id="21" name="badge n 4"/>
          <p:cNvSpPr txBox="1"/>
          <p:nvPr/>
        </p:nvSpPr>
        <p:spPr>
          <a:xfrm>
            <a:off x="685800" y="297180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2" name="step title 4"/>
          <p:cNvSpPr txBox="1"/>
          <p:nvPr/>
        </p:nvSpPr>
        <p:spPr>
          <a:xfrm>
            <a:off x="1188720" y="2971800"/>
            <a:ext cx="1828800" cy="411480"/>
          </a:xfrm>
          <a:prstGeom prst="rect">
            <a:avLst/>
          </a:prstGeom>
          <a:noFill/>
          <a:ln/>
        </p:spPr>
        <p:txBody>
          <a:bodyPr wrap="square" lIns="0" tIns="0" rIns="0" bIns="0" rtlCol="0" anchor="ctr"/>
          <a:lstStyle/>
          <a:p>
            <a:pPr indent="0" marL="0">
              <a:buNone/>
            </a:pPr>
            <a:r>
              <a:rPr lang="en-US" sz="1500" b="1" dirty="0">
                <a:solidFill>
                  <a:schemeClr val="tx1"/>
                </a:solidFill>
              </a:rPr>
              <a:t>Kontroller</a:t>
            </a:r>
            <a:endParaRPr lang="en-US" sz="1500" dirty="0"/>
          </a:p>
        </p:txBody>
      </p:sp>
      <p:sp>
        <p:nvSpPr>
          <p:cNvPr id="23" name="step text 4"/>
          <p:cNvSpPr txBox="1"/>
          <p:nvPr/>
        </p:nvSpPr>
        <p:spPr>
          <a:xfrm>
            <a:off x="685800" y="3474720"/>
            <a:ext cx="2286000" cy="777240"/>
          </a:xfrm>
          <a:prstGeom prst="rect">
            <a:avLst/>
          </a:prstGeom>
          <a:noFill/>
          <a:ln/>
        </p:spPr>
        <p:txBody>
          <a:bodyPr wrap="square" lIns="0" tIns="0" rIns="0" bIns="0" rtlCol="0" anchor="t"/>
          <a:lstStyle/>
          <a:p>
            <a:pPr indent="0" marL="0">
              <a:buNone/>
            </a:pPr>
            <a:r>
              <a:rPr lang="en-US" sz="1200" dirty="0">
                <a:solidFill>
                  <a:schemeClr val="tx1"/>
                </a:solidFill>
              </a:rPr>
              <a:t>Lint, snippet testleri, elle hesaplanmış değerlerle kural testleri, dry run.</a:t>
            </a:r>
            <a:endParaRPr lang="en-US" sz="1200" dirty="0"/>
          </a:p>
        </p:txBody>
      </p:sp>
      <p:sp>
        <p:nvSpPr>
          <p:cNvPr id="24" name="step 5"/>
          <p:cNvSpPr/>
          <p:nvPr/>
        </p:nvSpPr>
        <p:spPr>
          <a:xfrm>
            <a:off x="3291840" y="2834640"/>
            <a:ext cx="256032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5" name="badge 5"/>
          <p:cNvSpPr/>
          <p:nvPr/>
        </p:nvSpPr>
        <p:spPr>
          <a:xfrm>
            <a:off x="3429000" y="2971800"/>
            <a:ext cx="411480" cy="411480"/>
          </a:xfrm>
          <a:prstGeom prst="ellipse">
            <a:avLst/>
          </a:prstGeom>
          <a:solidFill>
            <a:schemeClr val="accent1"/>
          </a:solidFill>
          <a:ln w="12700">
            <a:solidFill>
              <a:schemeClr val="accent1"/>
            </a:solidFill>
            <a:prstDash val="solid"/>
          </a:ln>
        </p:spPr>
      </p:sp>
      <p:sp>
        <p:nvSpPr>
          <p:cNvPr id="26" name="badge n 5"/>
          <p:cNvSpPr txBox="1"/>
          <p:nvPr/>
        </p:nvSpPr>
        <p:spPr>
          <a:xfrm>
            <a:off x="3429000" y="297180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7" name="step title 5"/>
          <p:cNvSpPr txBox="1"/>
          <p:nvPr/>
        </p:nvSpPr>
        <p:spPr>
          <a:xfrm>
            <a:off x="3931920" y="2971800"/>
            <a:ext cx="1828800" cy="411480"/>
          </a:xfrm>
          <a:prstGeom prst="rect">
            <a:avLst/>
          </a:prstGeom>
          <a:noFill/>
          <a:ln/>
        </p:spPr>
        <p:txBody>
          <a:bodyPr wrap="square" lIns="0" tIns="0" rIns="0" bIns="0" rtlCol="0" anchor="ctr"/>
          <a:lstStyle/>
          <a:p>
            <a:pPr indent="0" marL="0">
              <a:buNone/>
            </a:pPr>
            <a:r>
              <a:rPr lang="en-US" sz="1500" b="1" dirty="0">
                <a:solidFill>
                  <a:schemeClr val="tx1"/>
                </a:solidFill>
              </a:rPr>
              <a:t>Gate, deploy, smoke</a:t>
            </a:r>
            <a:endParaRPr lang="en-US" sz="1500" dirty="0"/>
          </a:p>
        </p:txBody>
      </p:sp>
      <p:sp>
        <p:nvSpPr>
          <p:cNvPr id="28" name="step text 5"/>
          <p:cNvSpPr txBox="1"/>
          <p:nvPr/>
        </p:nvSpPr>
        <p:spPr>
          <a:xfrm>
            <a:off x="3429000" y="3474720"/>
            <a:ext cx="2286000" cy="777240"/>
          </a:xfrm>
          <a:prstGeom prst="rect">
            <a:avLst/>
          </a:prstGeom>
          <a:noFill/>
          <a:ln/>
        </p:spPr>
        <p:txBody>
          <a:bodyPr wrap="square" lIns="0" tIns="0" rIns="0" bIns="0" rtlCol="0" anchor="t"/>
          <a:lstStyle/>
          <a:p>
            <a:pPr indent="0" marL="0">
              <a:buNone/>
            </a:pPr>
            <a:r>
              <a:rPr lang="en-US" sz="1200" dirty="0">
                <a:solidFill>
                  <a:schemeClr val="tx1"/>
                </a:solidFill>
              </a:rPr>
              <a:t>Sadece gate deploy eder. Kısa senaryolu sohbetler: açılış, bir akraba, robot sorusu.</a:t>
            </a:r>
            <a:endParaRPr lang="en-US" sz="1200" dirty="0"/>
          </a:p>
        </p:txBody>
      </p:sp>
      <p:sp>
        <p:nvSpPr>
          <p:cNvPr id="29" name="step 6"/>
          <p:cNvSpPr/>
          <p:nvPr/>
        </p:nvSpPr>
        <p:spPr>
          <a:xfrm>
            <a:off x="6035040" y="2834640"/>
            <a:ext cx="256032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30" name="badge 6"/>
          <p:cNvSpPr/>
          <p:nvPr/>
        </p:nvSpPr>
        <p:spPr>
          <a:xfrm>
            <a:off x="6172200" y="2971800"/>
            <a:ext cx="411480" cy="411480"/>
          </a:xfrm>
          <a:prstGeom prst="ellipse">
            <a:avLst/>
          </a:prstGeom>
          <a:solidFill>
            <a:schemeClr val="accent1"/>
          </a:solidFill>
          <a:ln w="12700">
            <a:solidFill>
              <a:schemeClr val="accent1"/>
            </a:solidFill>
            <a:prstDash val="solid"/>
          </a:ln>
        </p:spPr>
      </p:sp>
      <p:sp>
        <p:nvSpPr>
          <p:cNvPr id="31" name="badge n 6"/>
          <p:cNvSpPr txBox="1"/>
          <p:nvPr/>
        </p:nvSpPr>
        <p:spPr>
          <a:xfrm>
            <a:off x="6172200" y="297180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6</a:t>
            </a:r>
            <a:endParaRPr lang="en-US" sz="1600" dirty="0"/>
          </a:p>
        </p:txBody>
      </p:sp>
      <p:sp>
        <p:nvSpPr>
          <p:cNvPr id="32" name="step title 6"/>
          <p:cNvSpPr txBox="1"/>
          <p:nvPr/>
        </p:nvSpPr>
        <p:spPr>
          <a:xfrm>
            <a:off x="6675120" y="2971800"/>
            <a:ext cx="1828800" cy="411480"/>
          </a:xfrm>
          <a:prstGeom prst="rect">
            <a:avLst/>
          </a:prstGeom>
          <a:noFill/>
          <a:ln/>
        </p:spPr>
        <p:txBody>
          <a:bodyPr wrap="square" lIns="0" tIns="0" rIns="0" bIns="0" rtlCol="0" anchor="ctr"/>
          <a:lstStyle/>
          <a:p>
            <a:pPr indent="0" marL="0">
              <a:buNone/>
            </a:pPr>
            <a:r>
              <a:rPr lang="en-US" sz="1500" b="1" dirty="0">
                <a:solidFill>
                  <a:schemeClr val="tx1"/>
                </a:solidFill>
              </a:rPr>
              <a:t>Gözden geçirme, export</a:t>
            </a:r>
            <a:endParaRPr lang="en-US" sz="1500" dirty="0"/>
          </a:p>
        </p:txBody>
      </p:sp>
      <p:sp>
        <p:nvSpPr>
          <p:cNvPr id="33" name="step text 6"/>
          <p:cNvSpPr txBox="1"/>
          <p:nvPr/>
        </p:nvSpPr>
        <p:spPr>
          <a:xfrm>
            <a:off x="6172200" y="3474720"/>
            <a:ext cx="2286000" cy="777240"/>
          </a:xfrm>
          <a:prstGeom prst="rect">
            <a:avLst/>
          </a:prstGeom>
          <a:noFill/>
          <a:ln/>
        </p:spPr>
        <p:txBody>
          <a:bodyPr wrap="square" lIns="0" tIns="0" rIns="0" bIns="0" rtlCol="0" anchor="t"/>
          <a:lstStyle/>
          <a:p>
            <a:pPr indent="0" marL="0">
              <a:buNone/>
            </a:pPr>
            <a:r>
              <a:rPr lang="en-US" sz="1200" dirty="0">
                <a:solidFill>
                  <a:schemeClr val="tx1"/>
                </a:solidFill>
              </a:rPr>
              <a:t>Bağımsız bir reviewer on senaryoyu kâğıt üzerinde yürür. Sonra workflow export edilir.</a:t>
            </a:r>
            <a:endParaRPr lang="en-US" sz="1200" dirty="0"/>
          </a:p>
        </p:txBody>
      </p:sp>
      <p:sp>
        <p:nvSpPr>
          <p:cNvPr id="34" name="timing"/>
          <p:cNvSpPr txBox="1"/>
          <p:nvPr/>
        </p:nvSpPr>
        <p:spPr>
          <a:xfrm>
            <a:off x="548640" y="4434840"/>
            <a:ext cx="7680960" cy="320040"/>
          </a:xfrm>
          <a:prstGeom prst="rect">
            <a:avLst/>
          </a:prstGeom>
          <a:noFill/>
          <a:ln/>
        </p:spPr>
        <p:txBody>
          <a:bodyPr wrap="square" lIns="0" tIns="0" rIns="0" bIns="0" rtlCol="0" anchor="ctr"/>
          <a:lstStyle/>
          <a:p>
            <a:pPr indent="0" marL="0">
              <a:buNone/>
            </a:pPr>
            <a:r>
              <a:rPr lang="en-US" sz="1300" dirty="0">
                <a:solidFill>
                  <a:schemeClr val="accent4"/>
                </a:solidFill>
              </a:rPr>
              <a:t>Build'ler 452-656 sn sürüyor. Watchdog ajanı 25. dakikada durduruyor.</a:t>
            </a:r>
            <a:endParaRPr lang="en-US" sz="13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Önemli her cümleyi kod söyler</a:t>
            </a:r>
            <a:endParaRPr lang="en-US" sz="3400" dirty="0"/>
          </a:p>
        </p:txBody>
      </p:sp>
      <p:sp>
        <p:nvSpPr>
          <p:cNvPr id="4" name="prompt column"/>
          <p:cNvSpPr/>
          <p:nvPr/>
        </p:nvSpPr>
        <p:spPr>
          <a:xfrm>
            <a:off x="548640" y="1188720"/>
            <a:ext cx="3931920" cy="2926080"/>
          </a:xfrm>
          <a:prstGeom prst="roundRect">
            <a:avLst>
              <a:gd name="adj" fmla="val 2500"/>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5" name="code column"/>
          <p:cNvSpPr/>
          <p:nvPr/>
        </p:nvSpPr>
        <p:spPr>
          <a:xfrm>
            <a:off x="4663440" y="1188720"/>
            <a:ext cx="3931920" cy="2926080"/>
          </a:xfrm>
          <a:prstGeom prst="roundRect">
            <a:avLst>
              <a:gd name="adj" fmla="val 2500"/>
            </a:avLst>
          </a:prstGeom>
          <a:solidFill>
            <a:schemeClr val="tx2"/>
          </a:solidFill>
          <a:ln w="12700">
            <a:solidFill>
              <a:schemeClr val="tx2"/>
            </a:solidFill>
            <a:prstDash val="solid"/>
          </a:ln>
          <a:effectLst>
            <a:outerShdw sx="100000" sy="100000" kx="0" ky="0" algn="bl" rotWithShape="0" blurRad="76200" dist="25400" dir="5400000">
              <a:srgbClr val="000000">
                <a:alpha val="15000"/>
              </a:srgbClr>
            </a:outerShdw>
          </a:effectLst>
        </p:spPr>
      </p:sp>
      <p:sp>
        <p:nvSpPr>
          <p:cNvPr id="6" name="prompt head"/>
          <p:cNvSpPr txBox="1"/>
          <p:nvPr/>
        </p:nvSpPr>
        <p:spPr>
          <a:xfrm>
            <a:off x="777240" y="1325880"/>
            <a:ext cx="3474720" cy="411480"/>
          </a:xfrm>
          <a:prstGeom prst="rect">
            <a:avLst/>
          </a:prstGeom>
          <a:noFill/>
          <a:ln/>
        </p:spPr>
        <p:txBody>
          <a:bodyPr wrap="square" lIns="0" tIns="0" rIns="0" bIns="0" rtlCol="0" anchor="ctr"/>
          <a:lstStyle/>
          <a:p>
            <a:pPr indent="0" marL="0">
              <a:buNone/>
            </a:pPr>
            <a:r>
              <a:rPr lang="en-US" sz="2000" b="1" dirty="0">
                <a:solidFill>
                  <a:schemeClr val="accent3"/>
                </a:solidFill>
              </a:rPr>
              <a:t>Prompt'taki kural</a:t>
            </a:r>
            <a:endParaRPr lang="en-US" sz="2000" dirty="0"/>
          </a:p>
        </p:txBody>
      </p:sp>
      <p:sp>
        <p:nvSpPr>
          <p:cNvPr id="7" name="prompt body"/>
          <p:cNvSpPr txBox="1"/>
          <p:nvPr/>
        </p:nvSpPr>
        <p:spPr>
          <a:xfrm>
            <a:off x="777240" y="1828800"/>
            <a:ext cx="347472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Model bir kimlik sorusunu atladı</a:t>
            </a:r>
            <a:endParaRPr lang="en-US" sz="1500" dirty="0"/>
          </a:p>
          <a:p>
            <a:pPr marL="342900" indent="-342900">
              <a:spcAft>
                <a:spcPts val="800"/>
              </a:spcAft>
              <a:buSzPct val="100000"/>
              <a:buChar char="•"/>
            </a:pPr>
            <a:r>
              <a:rPr lang="en-US" sz="1500" dirty="0">
                <a:solidFill>
                  <a:schemeClr val="tx1"/>
                </a:solidFill>
              </a:rPr>
              <a:t>Doğrulanmamış arayana 25 kez uydurma borç söyledi</a:t>
            </a:r>
            <a:endParaRPr lang="en-US" sz="1500" dirty="0"/>
          </a:p>
          <a:p>
            <a:pPr marL="342900" indent="-342900">
              <a:spcAft>
                <a:spcPts val="800"/>
              </a:spcAft>
              <a:buSzPct val="100000"/>
              <a:buChar char="•"/>
            </a:pPr>
            <a:r>
              <a:rPr lang="en-US" sz="1500" dirty="0">
                <a:solidFill>
                  <a:schemeClr val="tx1"/>
                </a:solidFill>
              </a:rPr>
              <a:t>Pazarlıkta teklifleri değiştirdi</a:t>
            </a:r>
            <a:endParaRPr lang="en-US" sz="1500" dirty="0"/>
          </a:p>
        </p:txBody>
      </p:sp>
      <p:sp>
        <p:nvSpPr>
          <p:cNvPr id="8" name="code head"/>
          <p:cNvSpPr txBox="1"/>
          <p:nvPr/>
        </p:nvSpPr>
        <p:spPr>
          <a:xfrm>
            <a:off x="4892040" y="1325880"/>
            <a:ext cx="3474720" cy="411480"/>
          </a:xfrm>
          <a:prstGeom prst="rect">
            <a:avLst/>
          </a:prstGeom>
          <a:noFill/>
          <a:ln/>
        </p:spPr>
        <p:txBody>
          <a:bodyPr wrap="square" lIns="0" tIns="0" rIns="0" bIns="0" rtlCol="0" anchor="ctr"/>
          <a:lstStyle/>
          <a:p>
            <a:pPr indent="0" marL="0">
              <a:buNone/>
            </a:pPr>
            <a:r>
              <a:rPr lang="en-US" sz="2000" b="1" dirty="0">
                <a:solidFill>
                  <a:schemeClr val="accent1"/>
                </a:solidFill>
              </a:rPr>
              <a:t>Koddaki kural</a:t>
            </a:r>
            <a:endParaRPr lang="en-US" sz="2000" dirty="0"/>
          </a:p>
        </p:txBody>
      </p:sp>
      <p:sp>
        <p:nvSpPr>
          <p:cNvPr id="9" name="code body"/>
          <p:cNvSpPr txBox="1"/>
          <p:nvPr/>
        </p:nvSpPr>
        <p:spPr>
          <a:xfrm>
            <a:off x="4892040" y="1828800"/>
            <a:ext cx="347472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Kod sonraki soruyu ve tam cümleyi seçer</a:t>
            </a:r>
            <a:endParaRPr lang="en-US" sz="1500" dirty="0"/>
          </a:p>
          <a:p>
            <a:pPr marL="342900" indent="-342900">
              <a:spcAft>
                <a:spcPts val="800"/>
              </a:spcAft>
              <a:buSzPct val="100000"/>
              <a:buChar char="•"/>
            </a:pPr>
            <a:r>
              <a:rPr lang="en-US" sz="1500" dirty="0">
                <a:solidFill>
                  <a:schemeClr val="bg1"/>
                </a:solidFill>
              </a:rPr>
              <a:t>Node bunu sabit metin olarak söyler</a:t>
            </a:r>
            <a:endParaRPr lang="en-US" sz="1500" dirty="0"/>
          </a:p>
          <a:p>
            <a:pPr marL="342900" indent="-342900">
              <a:spcAft>
                <a:spcPts val="800"/>
              </a:spcAft>
              <a:buSzPct val="100000"/>
              <a:buChar char="•"/>
            </a:pPr>
            <a:r>
              <a:rPr lang="en-US" sz="1500" dirty="0">
                <a:solidFill>
                  <a:schemeClr val="bg1"/>
                </a:solidFill>
              </a:rPr>
              <a:t>Tarih, tutar ve deneme sayısı kodda sayılır</a:t>
            </a:r>
            <a:endParaRPr lang="en-US" sz="1500" dirty="0"/>
          </a:p>
          <a:p>
            <a:pPr marL="342900" indent="-342900">
              <a:spcAft>
                <a:spcPts val="800"/>
              </a:spcAft>
              <a:buSzPct val="100000"/>
              <a:buChar char="•"/>
            </a:pPr>
            <a:r>
              <a:rPr lang="en-US" sz="1500" dirty="0">
                <a:solidFill>
                  <a:schemeClr val="bg1"/>
                </a:solidFill>
              </a:rPr>
              <a:t>Kimlik geçmeden model hesap hakkında hiçbir şey bilmez</a:t>
            </a:r>
            <a:endParaRPr lang="en-US" sz="1500" dirty="0"/>
          </a:p>
        </p:txBody>
      </p:sp>
      <p:sp>
        <p:nvSpPr>
          <p:cNvPr id="10" name="result"/>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400" i="1" dirty="0">
                <a:solidFill>
                  <a:schemeClr val="accent2"/>
                </a:solidFill>
              </a:rPr>
              <a:t>Gizlilik case'i PUB-03, düzeltmeden sonra: 3/3.</a:t>
            </a:r>
            <a:endParaRPr lang="en-US" sz="1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Test edilmiş bir kütüphane</a:t>
            </a:r>
            <a:endParaRPr lang="en-US" sz="3400" dirty="0"/>
          </a:p>
        </p:txBody>
      </p:sp>
      <p:sp>
        <p:nvSpPr>
          <p:cNvPr id="4" name="block docs"/>
          <p:cNvSpPr/>
          <p:nvPr/>
        </p:nvSpPr>
        <p:spPr>
          <a:xfrm>
            <a:off x="548640" y="1188720"/>
            <a:ext cx="25603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5" name="block name docs"/>
          <p:cNvSpPr txBox="1"/>
          <p:nvPr/>
        </p:nvSpPr>
        <p:spPr>
          <a:xfrm>
            <a:off x="685800" y="1280160"/>
            <a:ext cx="2286000" cy="320040"/>
          </a:xfrm>
          <a:prstGeom prst="rect">
            <a:avLst/>
          </a:prstGeom>
          <a:noFill/>
          <a:ln/>
        </p:spPr>
        <p:txBody>
          <a:bodyPr wrap="square" lIns="0" tIns="0" rIns="0" bIns="0" rtlCol="0" anchor="ctr"/>
          <a:lstStyle/>
          <a:p>
            <a:pPr indent="0" marL="0">
              <a:buNone/>
            </a:pPr>
            <a:r>
              <a:rPr lang="en-US" sz="1500" b="1" dirty="0">
                <a:solidFill>
                  <a:schemeClr val="accent2"/>
                </a:solidFill>
              </a:rPr>
              <a:t>docs</a:t>
            </a:r>
            <a:endParaRPr lang="en-US" sz="1500" dirty="0"/>
          </a:p>
        </p:txBody>
      </p:sp>
      <p:sp>
        <p:nvSpPr>
          <p:cNvPr id="6" name="block text docs"/>
          <p:cNvSpPr txBox="1"/>
          <p:nvPr/>
        </p:nvSpPr>
        <p:spPr>
          <a:xfrm>
            <a:off x="685800" y="1618488"/>
            <a:ext cx="2286000" cy="530352"/>
          </a:xfrm>
          <a:prstGeom prst="rect">
            <a:avLst/>
          </a:prstGeom>
          <a:noFill/>
          <a:ln/>
        </p:spPr>
        <p:txBody>
          <a:bodyPr wrap="square" lIns="0" tIns="0" rIns="0" bIns="0" rtlCol="0" anchor="t"/>
          <a:lstStyle/>
          <a:p>
            <a:pPr indent="0" marL="0">
              <a:buNone/>
            </a:pPr>
            <a:r>
              <a:rPr lang="en-US" sz="1200" dirty="0">
                <a:solidFill>
                  <a:schemeClr val="tx1"/>
                </a:solidFill>
              </a:rPr>
              <a:t>Case klasörü metne: Word, Excel, PDF, görseller</a:t>
            </a:r>
            <a:endParaRPr lang="en-US" sz="1200" dirty="0"/>
          </a:p>
        </p:txBody>
      </p:sp>
      <p:sp>
        <p:nvSpPr>
          <p:cNvPr id="7" name="block tools"/>
          <p:cNvSpPr/>
          <p:nvPr/>
        </p:nvSpPr>
        <p:spPr>
          <a:xfrm>
            <a:off x="3291840" y="1188720"/>
            <a:ext cx="25603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8" name="block name tools"/>
          <p:cNvSpPr txBox="1"/>
          <p:nvPr/>
        </p:nvSpPr>
        <p:spPr>
          <a:xfrm>
            <a:off x="3429000" y="1280160"/>
            <a:ext cx="2286000" cy="320040"/>
          </a:xfrm>
          <a:prstGeom prst="rect">
            <a:avLst/>
          </a:prstGeom>
          <a:noFill/>
          <a:ln/>
        </p:spPr>
        <p:txBody>
          <a:bodyPr wrap="square" lIns="0" tIns="0" rIns="0" bIns="0" rtlCol="0" anchor="ctr"/>
          <a:lstStyle/>
          <a:p>
            <a:pPr indent="0" marL="0">
              <a:buNone/>
            </a:pPr>
            <a:r>
              <a:rPr lang="en-US" sz="1500" b="1" dirty="0">
                <a:solidFill>
                  <a:schemeClr val="accent2"/>
                </a:solidFill>
              </a:rPr>
              <a:t>tools</a:t>
            </a:r>
            <a:endParaRPr lang="en-US" sz="1500" dirty="0"/>
          </a:p>
        </p:txBody>
      </p:sp>
      <p:sp>
        <p:nvSpPr>
          <p:cNvPr id="9" name="block text tools"/>
          <p:cNvSpPr txBox="1"/>
          <p:nvPr/>
        </p:nvSpPr>
        <p:spPr>
          <a:xfrm>
            <a:off x="3429000" y="1618488"/>
            <a:ext cx="2286000" cy="530352"/>
          </a:xfrm>
          <a:prstGeom prst="rect">
            <a:avLst/>
          </a:prstGeom>
          <a:noFill/>
          <a:ln/>
        </p:spPr>
        <p:txBody>
          <a:bodyPr wrap="square" lIns="0" tIns="0" rIns="0" bIns="0" rtlCol="0" anchor="t"/>
          <a:lstStyle/>
          <a:p>
            <a:pPr indent="0" marL="0">
              <a:buNone/>
            </a:pPr>
            <a:r>
              <a:rPr lang="en-US" sz="1200" dirty="0">
                <a:solidFill>
                  <a:schemeClr val="tx1"/>
                </a:solidFill>
              </a:rPr>
              <a:t>Her API dosyasından araçlar, Swagger 2 dahil</a:t>
            </a:r>
            <a:endParaRPr lang="en-US" sz="1200" dirty="0"/>
          </a:p>
        </p:txBody>
      </p:sp>
      <p:sp>
        <p:nvSpPr>
          <p:cNvPr id="10" name="block nodes + patterns"/>
          <p:cNvSpPr/>
          <p:nvPr/>
        </p:nvSpPr>
        <p:spPr>
          <a:xfrm>
            <a:off x="6035040" y="1188720"/>
            <a:ext cx="25603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1" name="block name nodes + patterns"/>
          <p:cNvSpPr txBox="1"/>
          <p:nvPr/>
        </p:nvSpPr>
        <p:spPr>
          <a:xfrm>
            <a:off x="6172200" y="1280160"/>
            <a:ext cx="2286000" cy="320040"/>
          </a:xfrm>
          <a:prstGeom prst="rect">
            <a:avLst/>
          </a:prstGeom>
          <a:noFill/>
          <a:ln/>
        </p:spPr>
        <p:txBody>
          <a:bodyPr wrap="square" lIns="0" tIns="0" rIns="0" bIns="0" rtlCol="0" anchor="ctr"/>
          <a:lstStyle/>
          <a:p>
            <a:pPr indent="0" marL="0">
              <a:buNone/>
            </a:pPr>
            <a:r>
              <a:rPr lang="en-US" sz="1500" b="1" dirty="0">
                <a:solidFill>
                  <a:schemeClr val="accent2"/>
                </a:solidFill>
              </a:rPr>
              <a:t>nodes + patterns</a:t>
            </a:r>
            <a:endParaRPr lang="en-US" sz="1500" dirty="0"/>
          </a:p>
        </p:txBody>
      </p:sp>
      <p:sp>
        <p:nvSpPr>
          <p:cNvPr id="12" name="block text nodes + patterns"/>
          <p:cNvSpPr txBox="1"/>
          <p:nvPr/>
        </p:nvSpPr>
        <p:spPr>
          <a:xfrm>
            <a:off x="6172200" y="1618488"/>
            <a:ext cx="2286000" cy="530352"/>
          </a:xfrm>
          <a:prstGeom prst="rect">
            <a:avLst/>
          </a:prstGeom>
          <a:noFill/>
          <a:ln/>
        </p:spPr>
        <p:txBody>
          <a:bodyPr wrap="square" lIns="0" tIns="0" rIns="0" bIns="0" rtlCol="0" anchor="t"/>
          <a:lstStyle/>
          <a:p>
            <a:pPr indent="0" marL="0">
              <a:buNone/>
            </a:pPr>
            <a:r>
              <a:rPr lang="en-US" sz="1200" dirty="0">
                <a:solidFill>
                  <a:schemeClr val="tx1"/>
                </a:solidFill>
              </a:rPr>
              <a:t>Node fabrikaları, kimlik kontrolü, pazarlık, yazma döngüsü</a:t>
            </a:r>
            <a:endParaRPr lang="en-US" sz="1200" dirty="0"/>
          </a:p>
        </p:txBody>
      </p:sp>
      <p:sp>
        <p:nvSpPr>
          <p:cNvPr id="13" name="block datelib"/>
          <p:cNvSpPr/>
          <p:nvPr/>
        </p:nvSpPr>
        <p:spPr>
          <a:xfrm>
            <a:off x="548640" y="2331720"/>
            <a:ext cx="25603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4" name="block name datelib"/>
          <p:cNvSpPr txBox="1"/>
          <p:nvPr/>
        </p:nvSpPr>
        <p:spPr>
          <a:xfrm>
            <a:off x="685800" y="2423160"/>
            <a:ext cx="2286000" cy="320040"/>
          </a:xfrm>
          <a:prstGeom prst="rect">
            <a:avLst/>
          </a:prstGeom>
          <a:noFill/>
          <a:ln/>
        </p:spPr>
        <p:txBody>
          <a:bodyPr wrap="square" lIns="0" tIns="0" rIns="0" bIns="0" rtlCol="0" anchor="ctr"/>
          <a:lstStyle/>
          <a:p>
            <a:pPr indent="0" marL="0">
              <a:buNone/>
            </a:pPr>
            <a:r>
              <a:rPr lang="en-US" sz="1500" b="1" dirty="0">
                <a:solidFill>
                  <a:schemeClr val="accent2"/>
                </a:solidFill>
              </a:rPr>
              <a:t>datelib</a:t>
            </a:r>
            <a:endParaRPr lang="en-US" sz="1500" dirty="0"/>
          </a:p>
        </p:txBody>
      </p:sp>
      <p:sp>
        <p:nvSpPr>
          <p:cNvPr id="15" name="block text datelib"/>
          <p:cNvSpPr txBox="1"/>
          <p:nvPr/>
        </p:nvSpPr>
        <p:spPr>
          <a:xfrm>
            <a:off x="685800" y="2761488"/>
            <a:ext cx="2286000" cy="530352"/>
          </a:xfrm>
          <a:prstGeom prst="rect">
            <a:avLst/>
          </a:prstGeom>
          <a:noFill/>
          <a:ln/>
        </p:spPr>
        <p:txBody>
          <a:bodyPr wrap="square" lIns="0" tIns="0" rIns="0" bIns="0" rtlCol="0" anchor="t"/>
          <a:lstStyle/>
          <a:p>
            <a:pPr indent="0" marL="0">
              <a:buNone/>
            </a:pPr>
            <a:r>
              <a:rPr lang="en-US" sz="1200" dirty="0">
                <a:solidFill>
                  <a:schemeClr val="tx1"/>
                </a:solidFill>
              </a:rPr>
              <a:t>İş günleri, tatiller, son tarihler</a:t>
            </a:r>
            <a:endParaRPr lang="en-US" sz="1200" dirty="0"/>
          </a:p>
        </p:txBody>
      </p:sp>
      <p:sp>
        <p:nvSpPr>
          <p:cNvPr id="16" name="block lint"/>
          <p:cNvSpPr/>
          <p:nvPr/>
        </p:nvSpPr>
        <p:spPr>
          <a:xfrm>
            <a:off x="3291840" y="2331720"/>
            <a:ext cx="25603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7" name="block name lint"/>
          <p:cNvSpPr txBox="1"/>
          <p:nvPr/>
        </p:nvSpPr>
        <p:spPr>
          <a:xfrm>
            <a:off x="3429000" y="2423160"/>
            <a:ext cx="2286000" cy="320040"/>
          </a:xfrm>
          <a:prstGeom prst="rect">
            <a:avLst/>
          </a:prstGeom>
          <a:noFill/>
          <a:ln/>
        </p:spPr>
        <p:txBody>
          <a:bodyPr wrap="square" lIns="0" tIns="0" rIns="0" bIns="0" rtlCol="0" anchor="ctr"/>
          <a:lstStyle/>
          <a:p>
            <a:pPr indent="0" marL="0">
              <a:buNone/>
            </a:pPr>
            <a:r>
              <a:rPr lang="en-US" sz="1500" b="1" dirty="0">
                <a:solidFill>
                  <a:schemeClr val="accent2"/>
                </a:solidFill>
              </a:rPr>
              <a:t>lint</a:t>
            </a:r>
            <a:endParaRPr lang="en-US" sz="1500" dirty="0"/>
          </a:p>
        </p:txBody>
      </p:sp>
      <p:sp>
        <p:nvSpPr>
          <p:cNvPr id="18" name="block text lint"/>
          <p:cNvSpPr txBox="1"/>
          <p:nvPr/>
        </p:nvSpPr>
        <p:spPr>
          <a:xfrm>
            <a:off x="3429000" y="2761488"/>
            <a:ext cx="2286000" cy="530352"/>
          </a:xfrm>
          <a:prstGeom prst="rect">
            <a:avLst/>
          </a:prstGeom>
          <a:noFill/>
          <a:ln/>
        </p:spPr>
        <p:txBody>
          <a:bodyPr wrap="square" lIns="0" tIns="0" rIns="0" bIns="0" rtlCol="0" anchor="t"/>
          <a:lstStyle/>
          <a:p>
            <a:pPr indent="0" marL="0">
              <a:buNone/>
            </a:pPr>
            <a:r>
              <a:rPr lang="en-US" sz="1200" dirty="0">
                <a:solidFill>
                  <a:schemeClr val="tx1"/>
                </a:solidFill>
              </a:rPr>
              <a:t>Platformun sessiz tuzakları için statik kontrol</a:t>
            </a:r>
            <a:endParaRPr lang="en-US" sz="1200" dirty="0"/>
          </a:p>
        </p:txBody>
      </p:sp>
      <p:sp>
        <p:nvSpPr>
          <p:cNvPr id="19" name="block check"/>
          <p:cNvSpPr/>
          <p:nvPr/>
        </p:nvSpPr>
        <p:spPr>
          <a:xfrm>
            <a:off x="6035040" y="2331720"/>
            <a:ext cx="25603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0" name="block name check"/>
          <p:cNvSpPr txBox="1"/>
          <p:nvPr/>
        </p:nvSpPr>
        <p:spPr>
          <a:xfrm>
            <a:off x="6172200" y="2423160"/>
            <a:ext cx="2286000" cy="320040"/>
          </a:xfrm>
          <a:prstGeom prst="rect">
            <a:avLst/>
          </a:prstGeom>
          <a:noFill/>
          <a:ln/>
        </p:spPr>
        <p:txBody>
          <a:bodyPr wrap="square" lIns="0" tIns="0" rIns="0" bIns="0" rtlCol="0" anchor="ctr"/>
          <a:lstStyle/>
          <a:p>
            <a:pPr indent="0" marL="0">
              <a:buNone/>
            </a:pPr>
            <a:r>
              <a:rPr lang="en-US" sz="1500" b="1" dirty="0">
                <a:solidFill>
                  <a:schemeClr val="accent2"/>
                </a:solidFill>
              </a:rPr>
              <a:t>check</a:t>
            </a:r>
            <a:endParaRPr lang="en-US" sz="1500" dirty="0"/>
          </a:p>
        </p:txBody>
      </p:sp>
      <p:sp>
        <p:nvSpPr>
          <p:cNvPr id="21" name="block text check"/>
          <p:cNvSpPr txBox="1"/>
          <p:nvPr/>
        </p:nvSpPr>
        <p:spPr>
          <a:xfrm>
            <a:off x="6172200" y="2761488"/>
            <a:ext cx="2286000" cy="530352"/>
          </a:xfrm>
          <a:prstGeom prst="rect">
            <a:avLst/>
          </a:prstGeom>
          <a:noFill/>
          <a:ln/>
        </p:spPr>
        <p:txBody>
          <a:bodyPr wrap="square" lIns="0" tIns="0" rIns="0" bIns="0" rtlCol="0" anchor="t"/>
          <a:lstStyle/>
          <a:p>
            <a:pPr indent="0" marL="0">
              <a:buNone/>
            </a:pPr>
            <a:r>
              <a:rPr lang="en-US" sz="1200" dirty="0">
                <a:solidFill>
                  <a:schemeClr val="tx1"/>
                </a:solidFill>
              </a:rPr>
              <a:t>Ledger, snippet, kural testi ve dry run</a:t>
            </a:r>
            <a:endParaRPr lang="en-US" sz="1200" dirty="0"/>
          </a:p>
        </p:txBody>
      </p:sp>
      <p:sp>
        <p:nvSpPr>
          <p:cNvPr id="22" name="block deploy"/>
          <p:cNvSpPr/>
          <p:nvPr/>
        </p:nvSpPr>
        <p:spPr>
          <a:xfrm>
            <a:off x="548640" y="3474720"/>
            <a:ext cx="25603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3" name="block name deploy"/>
          <p:cNvSpPr txBox="1"/>
          <p:nvPr/>
        </p:nvSpPr>
        <p:spPr>
          <a:xfrm>
            <a:off x="685800" y="3566160"/>
            <a:ext cx="2286000" cy="320040"/>
          </a:xfrm>
          <a:prstGeom prst="rect">
            <a:avLst/>
          </a:prstGeom>
          <a:noFill/>
          <a:ln/>
        </p:spPr>
        <p:txBody>
          <a:bodyPr wrap="square" lIns="0" tIns="0" rIns="0" bIns="0" rtlCol="0" anchor="ctr"/>
          <a:lstStyle/>
          <a:p>
            <a:pPr indent="0" marL="0">
              <a:buNone/>
            </a:pPr>
            <a:r>
              <a:rPr lang="en-US" sz="1500" b="1" dirty="0">
                <a:solidFill>
                  <a:schemeClr val="accent2"/>
                </a:solidFill>
              </a:rPr>
              <a:t>deploy</a:t>
            </a:r>
            <a:endParaRPr lang="en-US" sz="1500" dirty="0"/>
          </a:p>
        </p:txBody>
      </p:sp>
      <p:sp>
        <p:nvSpPr>
          <p:cNvPr id="24" name="block text deploy"/>
          <p:cNvSpPr txBox="1"/>
          <p:nvPr/>
        </p:nvSpPr>
        <p:spPr>
          <a:xfrm>
            <a:off x="685800" y="3904488"/>
            <a:ext cx="2286000" cy="530352"/>
          </a:xfrm>
          <a:prstGeom prst="rect">
            <a:avLst/>
          </a:prstGeom>
          <a:noFill/>
          <a:ln/>
        </p:spPr>
        <p:txBody>
          <a:bodyPr wrap="square" lIns="0" tIns="0" rIns="0" bIns="0" rtlCol="0" anchor="t"/>
          <a:lstStyle/>
          <a:p>
            <a:pPr indent="0" marL="0">
              <a:buNone/>
            </a:pPr>
            <a:r>
              <a:rPr lang="en-US" sz="1200" dirty="0">
                <a:solidFill>
                  <a:schemeClr val="tx1"/>
                </a:solidFill>
              </a:rPr>
              <a:t>Freya'ya giden tek yol, gate'in arkasında</a:t>
            </a:r>
            <a:endParaRPr lang="en-US" sz="1200" dirty="0"/>
          </a:p>
        </p:txBody>
      </p:sp>
      <p:sp>
        <p:nvSpPr>
          <p:cNvPr id="25" name="block smoke"/>
          <p:cNvSpPr/>
          <p:nvPr/>
        </p:nvSpPr>
        <p:spPr>
          <a:xfrm>
            <a:off x="3291840" y="3474720"/>
            <a:ext cx="25603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6" name="block name smoke"/>
          <p:cNvSpPr txBox="1"/>
          <p:nvPr/>
        </p:nvSpPr>
        <p:spPr>
          <a:xfrm>
            <a:off x="3429000" y="3566160"/>
            <a:ext cx="2286000" cy="320040"/>
          </a:xfrm>
          <a:prstGeom prst="rect">
            <a:avLst/>
          </a:prstGeom>
          <a:noFill/>
          <a:ln/>
        </p:spPr>
        <p:txBody>
          <a:bodyPr wrap="square" lIns="0" tIns="0" rIns="0" bIns="0" rtlCol="0" anchor="ctr"/>
          <a:lstStyle/>
          <a:p>
            <a:pPr indent="0" marL="0">
              <a:buNone/>
            </a:pPr>
            <a:r>
              <a:rPr lang="en-US" sz="1500" b="1" dirty="0">
                <a:solidFill>
                  <a:schemeClr val="accent2"/>
                </a:solidFill>
              </a:rPr>
              <a:t>smoke</a:t>
            </a:r>
            <a:endParaRPr lang="en-US" sz="1500" dirty="0"/>
          </a:p>
        </p:txBody>
      </p:sp>
      <p:sp>
        <p:nvSpPr>
          <p:cNvPr id="27" name="block text smoke"/>
          <p:cNvSpPr txBox="1"/>
          <p:nvPr/>
        </p:nvSpPr>
        <p:spPr>
          <a:xfrm>
            <a:off x="3429000" y="3904488"/>
            <a:ext cx="2286000" cy="530352"/>
          </a:xfrm>
          <a:prstGeom prst="rect">
            <a:avLst/>
          </a:prstGeom>
          <a:noFill/>
          <a:ln/>
        </p:spPr>
        <p:txBody>
          <a:bodyPr wrap="square" lIns="0" tIns="0" rIns="0" bIns="0" rtlCol="0" anchor="t"/>
          <a:lstStyle/>
          <a:p>
            <a:pPr indent="0" marL="0">
              <a:buNone/>
            </a:pPr>
            <a:r>
              <a:rPr lang="en-US" sz="1200" dirty="0">
                <a:solidFill>
                  <a:schemeClr val="tx1"/>
                </a:solidFill>
              </a:rPr>
              <a:t>Deploy edilen workflow'a senaryolu sohbetler</a:t>
            </a:r>
            <a:endParaRPr lang="en-US" sz="1200" dirty="0"/>
          </a:p>
        </p:txBody>
      </p:sp>
      <p:sp>
        <p:nvSpPr>
          <p:cNvPr id="28" name="block reviewer"/>
          <p:cNvSpPr/>
          <p:nvPr/>
        </p:nvSpPr>
        <p:spPr>
          <a:xfrm>
            <a:off x="6035040" y="3474720"/>
            <a:ext cx="2560320" cy="100584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29" name="block name reviewer"/>
          <p:cNvSpPr txBox="1"/>
          <p:nvPr/>
        </p:nvSpPr>
        <p:spPr>
          <a:xfrm>
            <a:off x="6172200" y="3566160"/>
            <a:ext cx="2286000" cy="320040"/>
          </a:xfrm>
          <a:prstGeom prst="rect">
            <a:avLst/>
          </a:prstGeom>
          <a:noFill/>
          <a:ln/>
        </p:spPr>
        <p:txBody>
          <a:bodyPr wrap="square" lIns="0" tIns="0" rIns="0" bIns="0" rtlCol="0" anchor="ctr"/>
          <a:lstStyle/>
          <a:p>
            <a:pPr indent="0" marL="0">
              <a:buNone/>
            </a:pPr>
            <a:r>
              <a:rPr lang="en-US" sz="1500" b="1" dirty="0">
                <a:solidFill>
                  <a:schemeClr val="accent2"/>
                </a:solidFill>
              </a:rPr>
              <a:t>reviewer</a:t>
            </a:r>
            <a:endParaRPr lang="en-US" sz="1500" dirty="0"/>
          </a:p>
        </p:txBody>
      </p:sp>
      <p:sp>
        <p:nvSpPr>
          <p:cNvPr id="30" name="block text reviewer"/>
          <p:cNvSpPr txBox="1"/>
          <p:nvPr/>
        </p:nvSpPr>
        <p:spPr>
          <a:xfrm>
            <a:off x="6172200" y="3904488"/>
            <a:ext cx="2286000" cy="530352"/>
          </a:xfrm>
          <a:prstGeom prst="rect">
            <a:avLst/>
          </a:prstGeom>
          <a:noFill/>
          <a:ln/>
        </p:spPr>
        <p:txBody>
          <a:bodyPr wrap="square" lIns="0" tIns="0" rIns="0" bIns="0" rtlCol="0" anchor="t"/>
          <a:lstStyle/>
          <a:p>
            <a:pPr indent="0" marL="0">
              <a:buNone/>
            </a:pPr>
            <a:r>
              <a:rPr lang="en-US" sz="1200" dirty="0">
                <a:solidFill>
                  <a:schemeClr val="tx1"/>
                </a:solidFill>
              </a:rPr>
              <a:t>Kurmayan ayrı bir ajan</a:t>
            </a:r>
            <a:endParaRPr lang="en-US" sz="1200" dirty="0"/>
          </a:p>
        </p:txBody>
      </p:sp>
      <p:sp>
        <p:nvSpPr>
          <p:cNvPr id="31" name="lib stat"/>
          <p:cNvSpPr txBox="1"/>
          <p:nvPr/>
        </p:nvSpPr>
        <p:spPr>
          <a:xfrm>
            <a:off x="548640" y="4617720"/>
            <a:ext cx="7680960" cy="274320"/>
          </a:xfrm>
          <a:prstGeom prst="rect">
            <a:avLst/>
          </a:prstGeom>
          <a:noFill/>
          <a:ln/>
        </p:spPr>
        <p:txBody>
          <a:bodyPr wrap="square" lIns="0" tIns="0" rIns="0" bIns="0" rtlCol="0" anchor="ctr"/>
          <a:lstStyle/>
          <a:p>
            <a:pPr indent="0" marL="0">
              <a:buNone/>
            </a:pPr>
            <a:r>
              <a:rPr lang="en-US" sz="1200" dirty="0">
                <a:solidFill>
                  <a:schemeClr val="accent4"/>
                </a:solidFill>
              </a:rPr>
              <a:t>Yaklaşık 1.400 satır | 146 test</a:t>
            </a:r>
            <a:endParaRPr lang="en-US" sz="12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Modelin etrafındaki korkuluklar</a:t>
            </a:r>
            <a:endParaRPr lang="en-US" sz="3400" dirty="0"/>
          </a:p>
        </p:txBody>
      </p:sp>
      <p:sp>
        <p:nvSpPr>
          <p:cNvPr id="4" name="rail Gate"/>
          <p:cNvSpPr/>
          <p:nvPr/>
        </p:nvSpPr>
        <p:spPr>
          <a:xfrm>
            <a:off x="548640" y="1188720"/>
            <a:ext cx="8046720" cy="594360"/>
          </a:xfrm>
          <a:prstGeom prst="roundRect">
            <a:avLst>
              <a:gd name="adj" fmla="val 12308"/>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5" name="rail name Gate"/>
          <p:cNvSpPr txBox="1"/>
          <p:nvPr/>
        </p:nvSpPr>
        <p:spPr>
          <a:xfrm>
            <a:off x="731520" y="1188720"/>
            <a:ext cx="1737360" cy="594360"/>
          </a:xfrm>
          <a:prstGeom prst="rect">
            <a:avLst/>
          </a:prstGeom>
          <a:noFill/>
          <a:ln/>
        </p:spPr>
        <p:txBody>
          <a:bodyPr wrap="square" lIns="0" tIns="0" rIns="0" bIns="0" rtlCol="0" anchor="ctr"/>
          <a:lstStyle/>
          <a:p>
            <a:pPr indent="0" marL="0">
              <a:buNone/>
            </a:pPr>
            <a:r>
              <a:rPr lang="en-US" sz="1600" b="1" dirty="0">
                <a:solidFill>
                  <a:schemeClr val="accent3"/>
                </a:solidFill>
              </a:rPr>
              <a:t>Gate</a:t>
            </a:r>
            <a:endParaRPr lang="en-US" sz="1600" dirty="0"/>
          </a:p>
        </p:txBody>
      </p:sp>
      <p:sp>
        <p:nvSpPr>
          <p:cNvPr id="6" name="rail text Gate"/>
          <p:cNvSpPr txBox="1"/>
          <p:nvPr/>
        </p:nvSpPr>
        <p:spPr>
          <a:xfrm>
            <a:off x="2514600" y="1188720"/>
            <a:ext cx="5943600" cy="594360"/>
          </a:xfrm>
          <a:prstGeom prst="rect">
            <a:avLst/>
          </a:prstGeom>
          <a:noFill/>
          <a:ln/>
        </p:spPr>
        <p:txBody>
          <a:bodyPr wrap="square" lIns="0" tIns="0" rIns="0" bIns="0" rtlCol="0" anchor="ctr"/>
          <a:lstStyle/>
          <a:p>
            <a:pPr indent="0" marL="0">
              <a:buNone/>
            </a:pPr>
            <a:r>
              <a:rPr lang="en-US" sz="1300" dirty="0">
                <a:solidFill>
                  <a:schemeClr val="tx1"/>
                </a:solidFill>
              </a:rPr>
              <a:t>Tüm kontroller geçmeden Freya'ya hiçbir şey gitmez. Başarısız build son deploy edilen sürümü korur.</a:t>
            </a:r>
            <a:endParaRPr lang="en-US" sz="1300" dirty="0"/>
          </a:p>
        </p:txBody>
      </p:sp>
      <p:sp>
        <p:nvSpPr>
          <p:cNvPr id="7" name="rail Brief veridir"/>
          <p:cNvSpPr/>
          <p:nvPr/>
        </p:nvSpPr>
        <p:spPr>
          <a:xfrm>
            <a:off x="548640" y="1874520"/>
            <a:ext cx="8046720" cy="594360"/>
          </a:xfrm>
          <a:prstGeom prst="roundRect">
            <a:avLst>
              <a:gd name="adj" fmla="val 12308"/>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8" name="rail name Brief veridir"/>
          <p:cNvSpPr txBox="1"/>
          <p:nvPr/>
        </p:nvSpPr>
        <p:spPr>
          <a:xfrm>
            <a:off x="731520" y="1874520"/>
            <a:ext cx="1737360" cy="594360"/>
          </a:xfrm>
          <a:prstGeom prst="rect">
            <a:avLst/>
          </a:prstGeom>
          <a:noFill/>
          <a:ln/>
        </p:spPr>
        <p:txBody>
          <a:bodyPr wrap="square" lIns="0" tIns="0" rIns="0" bIns="0" rtlCol="0" anchor="ctr"/>
          <a:lstStyle/>
          <a:p>
            <a:pPr indent="0" marL="0">
              <a:buNone/>
            </a:pPr>
            <a:r>
              <a:rPr lang="en-US" sz="1600" b="1" dirty="0">
                <a:solidFill>
                  <a:schemeClr val="accent3"/>
                </a:solidFill>
              </a:rPr>
              <a:t>Brief veridir</a:t>
            </a:r>
            <a:endParaRPr lang="en-US" sz="1600" dirty="0"/>
          </a:p>
        </p:txBody>
      </p:sp>
      <p:sp>
        <p:nvSpPr>
          <p:cNvPr id="9" name="rail text Brief veridir"/>
          <p:cNvSpPr txBox="1"/>
          <p:nvPr/>
        </p:nvSpPr>
        <p:spPr>
          <a:xfrm>
            <a:off x="2514600" y="1874520"/>
            <a:ext cx="5943600" cy="594360"/>
          </a:xfrm>
          <a:prstGeom prst="rect">
            <a:avLst/>
          </a:prstGeom>
          <a:noFill/>
          <a:ln/>
        </p:spPr>
        <p:txBody>
          <a:bodyPr wrap="square" lIns="0" tIns="0" rIns="0" bIns="0" rtlCol="0" anchor="ctr"/>
          <a:lstStyle/>
          <a:p>
            <a:pPr indent="0" marL="0">
              <a:buNone/>
            </a:pPr>
            <a:r>
              <a:rPr lang="en-US" sz="1300" dirty="0">
                <a:solidFill>
                  <a:schemeClr val="tx1"/>
                </a:solidFill>
              </a:rPr>
              <a:t>Brief'te builder'a hitap eden metin, telefon ajanı için bir kuraldır ya da hiçbir şey.</a:t>
            </a:r>
            <a:endParaRPr lang="en-US" sz="1300" dirty="0"/>
          </a:p>
        </p:txBody>
      </p:sp>
      <p:sp>
        <p:nvSpPr>
          <p:cNvPr id="10" name="rail Ezber yok"/>
          <p:cNvSpPr/>
          <p:nvPr/>
        </p:nvSpPr>
        <p:spPr>
          <a:xfrm>
            <a:off x="548640" y="2560320"/>
            <a:ext cx="8046720" cy="594360"/>
          </a:xfrm>
          <a:prstGeom prst="roundRect">
            <a:avLst>
              <a:gd name="adj" fmla="val 12308"/>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1" name="rail name Ezber yok"/>
          <p:cNvSpPr txBox="1"/>
          <p:nvPr/>
        </p:nvSpPr>
        <p:spPr>
          <a:xfrm>
            <a:off x="731520" y="2560320"/>
            <a:ext cx="1737360" cy="594360"/>
          </a:xfrm>
          <a:prstGeom prst="rect">
            <a:avLst/>
          </a:prstGeom>
          <a:noFill/>
          <a:ln/>
        </p:spPr>
        <p:txBody>
          <a:bodyPr wrap="square" lIns="0" tIns="0" rIns="0" bIns="0" rtlCol="0" anchor="ctr"/>
          <a:lstStyle/>
          <a:p>
            <a:pPr indent="0" marL="0">
              <a:buNone/>
            </a:pPr>
            <a:r>
              <a:rPr lang="en-US" sz="1600" b="1" dirty="0">
                <a:solidFill>
                  <a:schemeClr val="accent3"/>
                </a:solidFill>
              </a:rPr>
              <a:t>Ezber yok</a:t>
            </a:r>
            <a:endParaRPr lang="en-US" sz="1600" dirty="0"/>
          </a:p>
        </p:txBody>
      </p:sp>
      <p:sp>
        <p:nvSpPr>
          <p:cNvPr id="12" name="rail text Ezber yok"/>
          <p:cNvSpPr txBox="1"/>
          <p:nvPr/>
        </p:nvSpPr>
        <p:spPr>
          <a:xfrm>
            <a:off x="2514600" y="2560320"/>
            <a:ext cx="5943600" cy="594360"/>
          </a:xfrm>
          <a:prstGeom prst="rect">
            <a:avLst/>
          </a:prstGeom>
          <a:noFill/>
          <a:ln/>
        </p:spPr>
        <p:txBody>
          <a:bodyPr wrap="square" lIns="0" tIns="0" rIns="0" bIns="0" rtlCol="0" anchor="ctr"/>
          <a:lstStyle/>
          <a:p>
            <a:pPr indent="0" marL="0">
              <a:buNone/>
            </a:pPr>
            <a:r>
              <a:rPr lang="en-US" sz="1300" dirty="0">
                <a:solidFill>
                  <a:schemeClr val="tx1"/>
                </a:solidFill>
              </a:rPr>
              <a:t>Contamination kontrolü builder/ içinde bir brief'ten gelen değer arar. Sonuç: 0 sızıntı.</a:t>
            </a:r>
            <a:endParaRPr lang="en-US" sz="1300" dirty="0"/>
          </a:p>
        </p:txBody>
      </p:sp>
      <p:sp>
        <p:nvSpPr>
          <p:cNvPr id="13" name="rail Saat"/>
          <p:cNvSpPr/>
          <p:nvPr/>
        </p:nvSpPr>
        <p:spPr>
          <a:xfrm>
            <a:off x="548640" y="3246120"/>
            <a:ext cx="8046720" cy="594360"/>
          </a:xfrm>
          <a:prstGeom prst="roundRect">
            <a:avLst>
              <a:gd name="adj" fmla="val 12308"/>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4" name="rail name Saat"/>
          <p:cNvSpPr txBox="1"/>
          <p:nvPr/>
        </p:nvSpPr>
        <p:spPr>
          <a:xfrm>
            <a:off x="731520" y="3246120"/>
            <a:ext cx="1737360" cy="594360"/>
          </a:xfrm>
          <a:prstGeom prst="rect">
            <a:avLst/>
          </a:prstGeom>
          <a:noFill/>
          <a:ln/>
        </p:spPr>
        <p:txBody>
          <a:bodyPr wrap="square" lIns="0" tIns="0" rIns="0" bIns="0" rtlCol="0" anchor="ctr"/>
          <a:lstStyle/>
          <a:p>
            <a:pPr indent="0" marL="0">
              <a:buNone/>
            </a:pPr>
            <a:r>
              <a:rPr lang="en-US" sz="1600" b="1" dirty="0">
                <a:solidFill>
                  <a:schemeClr val="accent3"/>
                </a:solidFill>
              </a:rPr>
              <a:t>Saat</a:t>
            </a:r>
            <a:endParaRPr lang="en-US" sz="1600" dirty="0"/>
          </a:p>
        </p:txBody>
      </p:sp>
      <p:sp>
        <p:nvSpPr>
          <p:cNvPr id="15" name="rail text Saat"/>
          <p:cNvSpPr txBox="1"/>
          <p:nvPr/>
        </p:nvSpPr>
        <p:spPr>
          <a:xfrm>
            <a:off x="2514600" y="3246120"/>
            <a:ext cx="5943600" cy="594360"/>
          </a:xfrm>
          <a:prstGeom prst="rect">
            <a:avLst/>
          </a:prstGeom>
          <a:noFill/>
          <a:ln/>
        </p:spPr>
        <p:txBody>
          <a:bodyPr wrap="square" lIns="0" tIns="0" rIns="0" bIns="0" rtlCol="0" anchor="ctr"/>
          <a:lstStyle/>
          <a:p>
            <a:pPr indent="0" marL="0">
              <a:buNone/>
            </a:pPr>
            <a:r>
              <a:rPr lang="en-US" sz="1300" dirty="0">
                <a:solidFill>
                  <a:schemeClr val="tx1"/>
                </a:solidFill>
              </a:rPr>
              <a:t>25. dakikada watchdog. Gate ve deploy'a zaman yoksa son iyi sürüm kalır.</a:t>
            </a:r>
            <a:endParaRPr lang="en-US" sz="1300" dirty="0"/>
          </a:p>
        </p:txBody>
      </p:sp>
      <p:sp>
        <p:nvSpPr>
          <p:cNvPr id="16" name="rail Sırlar"/>
          <p:cNvSpPr/>
          <p:nvPr/>
        </p:nvSpPr>
        <p:spPr>
          <a:xfrm>
            <a:off x="548640" y="3931920"/>
            <a:ext cx="8046720" cy="594360"/>
          </a:xfrm>
          <a:prstGeom prst="roundRect">
            <a:avLst>
              <a:gd name="adj" fmla="val 12308"/>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7" name="rail name Sırlar"/>
          <p:cNvSpPr txBox="1"/>
          <p:nvPr/>
        </p:nvSpPr>
        <p:spPr>
          <a:xfrm>
            <a:off x="731520" y="3931920"/>
            <a:ext cx="1737360" cy="594360"/>
          </a:xfrm>
          <a:prstGeom prst="rect">
            <a:avLst/>
          </a:prstGeom>
          <a:noFill/>
          <a:ln/>
        </p:spPr>
        <p:txBody>
          <a:bodyPr wrap="square" lIns="0" tIns="0" rIns="0" bIns="0" rtlCol="0" anchor="ctr"/>
          <a:lstStyle/>
          <a:p>
            <a:pPr indent="0" marL="0">
              <a:buNone/>
            </a:pPr>
            <a:r>
              <a:rPr lang="en-US" sz="1600" b="1" dirty="0">
                <a:solidFill>
                  <a:schemeClr val="accent3"/>
                </a:solidFill>
              </a:rPr>
              <a:t>Sırlar</a:t>
            </a:r>
            <a:endParaRPr lang="en-US" sz="1600" dirty="0"/>
          </a:p>
        </p:txBody>
      </p:sp>
      <p:sp>
        <p:nvSpPr>
          <p:cNvPr id="18" name="rail text Sırlar"/>
          <p:cNvSpPr txBox="1"/>
          <p:nvPr/>
        </p:nvSpPr>
        <p:spPr>
          <a:xfrm>
            <a:off x="2514600" y="3931920"/>
            <a:ext cx="5943600" cy="594360"/>
          </a:xfrm>
          <a:prstGeom prst="rect">
            <a:avLst/>
          </a:prstGeom>
          <a:noFill/>
          <a:ln/>
        </p:spPr>
        <p:txBody>
          <a:bodyPr wrap="square" lIns="0" tIns="0" rIns="0" bIns="0" rtlCol="0" anchor="ctr"/>
          <a:lstStyle/>
          <a:p>
            <a:pPr indent="0" marL="0">
              <a:buNone/>
            </a:pPr>
            <a:r>
              <a:rPr lang="en-US" sz="1300" dirty="0">
                <a:solidFill>
                  <a:schemeClr val="tx1"/>
                </a:solidFill>
              </a:rPr>
              <a:t>API anahtarları ve token'lar trace'ten ve ham logdan temizlenir.</a:t>
            </a:r>
            <a:endParaRPr lang="en-US" sz="13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Nasıl ölçtük</a:t>
            </a:r>
            <a:endParaRPr lang="en-US" sz="3400" dirty="0"/>
          </a:p>
        </p:txBody>
      </p:sp>
      <p:sp>
        <p:nvSpPr>
          <p:cNvPr id="4" name="stat 9/10"/>
          <p:cNvSpPr txBox="1"/>
          <p:nvPr/>
        </p:nvSpPr>
        <p:spPr>
          <a:xfrm>
            <a:off x="548640" y="1143000"/>
            <a:ext cx="1828800" cy="777240"/>
          </a:xfrm>
          <a:prstGeom prst="rect">
            <a:avLst/>
          </a:prstGeom>
          <a:noFill/>
          <a:ln/>
        </p:spPr>
        <p:txBody>
          <a:bodyPr wrap="square" lIns="0" tIns="0" rIns="0" bIns="0" rtlCol="0" anchor="ctr"/>
          <a:lstStyle/>
          <a:p>
            <a:pPr algn="l" indent="0" marL="0">
              <a:buNone/>
            </a:pPr>
            <a:r>
              <a:rPr lang="en-US" sz="4800" b="1" dirty="0">
                <a:solidFill>
                  <a:schemeClr val="accent2"/>
                </a:solidFill>
              </a:rPr>
              <a:t>9/10</a:t>
            </a:r>
            <a:endParaRPr lang="en-US" sz="4800" dirty="0"/>
          </a:p>
        </p:txBody>
      </p:sp>
      <p:sp>
        <p:nvSpPr>
          <p:cNvPr id="5" name="label 9/10"/>
          <p:cNvSpPr txBox="1"/>
          <p:nvPr/>
        </p:nvSpPr>
        <p:spPr>
          <a:xfrm>
            <a:off x="548640" y="1920240"/>
            <a:ext cx="1828800" cy="640080"/>
          </a:xfrm>
          <a:prstGeom prst="rect">
            <a:avLst/>
          </a:prstGeom>
          <a:noFill/>
          <a:ln/>
        </p:spPr>
        <p:txBody>
          <a:bodyPr wrap="square" lIns="0" tIns="0" rIns="0" bIns="0" rtlCol="0" anchor="t"/>
          <a:lstStyle/>
          <a:p>
            <a:pPr algn="l" indent="0" marL="0">
              <a:buNone/>
            </a:pPr>
            <a:r>
              <a:rPr lang="en-US" sz="1400" dirty="0">
                <a:solidFill>
                  <a:schemeClr val="tx1"/>
                </a:solidFill>
              </a:rPr>
              <a:t>Brief A, sade müşteriler</a:t>
            </a:r>
            <a:endParaRPr lang="en-US" sz="1400" dirty="0"/>
          </a:p>
        </p:txBody>
      </p:sp>
      <p:sp>
        <p:nvSpPr>
          <p:cNvPr id="6" name="stat 9/10"/>
          <p:cNvSpPr txBox="1"/>
          <p:nvPr/>
        </p:nvSpPr>
        <p:spPr>
          <a:xfrm>
            <a:off x="2560320" y="1143000"/>
            <a:ext cx="1828800" cy="777240"/>
          </a:xfrm>
          <a:prstGeom prst="rect">
            <a:avLst/>
          </a:prstGeom>
          <a:noFill/>
          <a:ln/>
        </p:spPr>
        <p:txBody>
          <a:bodyPr wrap="square" lIns="0" tIns="0" rIns="0" bIns="0" rtlCol="0" anchor="ctr"/>
          <a:lstStyle/>
          <a:p>
            <a:pPr algn="l" indent="0" marL="0">
              <a:buNone/>
            </a:pPr>
            <a:r>
              <a:rPr lang="en-US" sz="4800" b="1" dirty="0">
                <a:solidFill>
                  <a:schemeClr val="accent2"/>
                </a:solidFill>
              </a:rPr>
              <a:t>9/10</a:t>
            </a:r>
            <a:endParaRPr lang="en-US" sz="4800" dirty="0"/>
          </a:p>
        </p:txBody>
      </p:sp>
      <p:sp>
        <p:nvSpPr>
          <p:cNvPr id="7" name="label 9/10"/>
          <p:cNvSpPr txBox="1"/>
          <p:nvPr/>
        </p:nvSpPr>
        <p:spPr>
          <a:xfrm>
            <a:off x="2560320" y="1920240"/>
            <a:ext cx="1828800" cy="640080"/>
          </a:xfrm>
          <a:prstGeom prst="rect">
            <a:avLst/>
          </a:prstGeom>
          <a:noFill/>
          <a:ln/>
        </p:spPr>
        <p:txBody>
          <a:bodyPr wrap="square" lIns="0" tIns="0" rIns="0" bIns="0" rtlCol="0" anchor="t"/>
          <a:lstStyle/>
          <a:p>
            <a:pPr algn="l" indent="0" marL="0">
              <a:buNone/>
            </a:pPr>
            <a:r>
              <a:rPr lang="en-US" sz="1400" dirty="0">
                <a:solidFill>
                  <a:schemeClr val="tx1"/>
                </a:solidFill>
              </a:rPr>
              <a:t>Brief A, konuşkan müşteriler</a:t>
            </a:r>
            <a:endParaRPr lang="en-US" sz="1400" dirty="0"/>
          </a:p>
        </p:txBody>
      </p:sp>
      <p:sp>
        <p:nvSpPr>
          <p:cNvPr id="8" name="stat 2/3"/>
          <p:cNvSpPr txBox="1"/>
          <p:nvPr/>
        </p:nvSpPr>
        <p:spPr>
          <a:xfrm>
            <a:off x="4572000" y="1143000"/>
            <a:ext cx="1828800" cy="777240"/>
          </a:xfrm>
          <a:prstGeom prst="rect">
            <a:avLst/>
          </a:prstGeom>
          <a:noFill/>
          <a:ln/>
        </p:spPr>
        <p:txBody>
          <a:bodyPr wrap="square" lIns="0" tIns="0" rIns="0" bIns="0" rtlCol="0" anchor="ctr"/>
          <a:lstStyle/>
          <a:p>
            <a:pPr algn="l" indent="0" marL="0">
              <a:buNone/>
            </a:pPr>
            <a:r>
              <a:rPr lang="en-US" sz="4800" b="1" dirty="0">
                <a:solidFill>
                  <a:schemeClr val="accent2"/>
                </a:solidFill>
              </a:rPr>
              <a:t>2/3</a:t>
            </a:r>
            <a:endParaRPr lang="en-US" sz="4800" dirty="0"/>
          </a:p>
        </p:txBody>
      </p:sp>
      <p:sp>
        <p:nvSpPr>
          <p:cNvPr id="9" name="label 2/3"/>
          <p:cNvSpPr txBox="1"/>
          <p:nvPr/>
        </p:nvSpPr>
        <p:spPr>
          <a:xfrm>
            <a:off x="4572000" y="1920240"/>
            <a:ext cx="1828800" cy="640080"/>
          </a:xfrm>
          <a:prstGeom prst="rect">
            <a:avLst/>
          </a:prstGeom>
          <a:noFill/>
          <a:ln/>
        </p:spPr>
        <p:txBody>
          <a:bodyPr wrap="square" lIns="0" tIns="0" rIns="0" bIns="0" rtlCol="0" anchor="t"/>
          <a:lstStyle/>
          <a:p>
            <a:pPr algn="l" indent="0" marL="0">
              <a:buNone/>
            </a:pPr>
            <a:r>
              <a:rPr lang="en-US" sz="1400" dirty="0">
                <a:solidFill>
                  <a:schemeClr val="tx1"/>
                </a:solidFill>
              </a:rPr>
              <a:t>Brief B, ayrı tutulan (en iyi)</a:t>
            </a:r>
            <a:endParaRPr lang="en-US" sz="1400" dirty="0"/>
          </a:p>
        </p:txBody>
      </p:sp>
      <p:sp>
        <p:nvSpPr>
          <p:cNvPr id="10" name="stat 0"/>
          <p:cNvSpPr txBox="1"/>
          <p:nvPr/>
        </p:nvSpPr>
        <p:spPr>
          <a:xfrm>
            <a:off x="6583680" y="1143000"/>
            <a:ext cx="2011680" cy="777240"/>
          </a:xfrm>
          <a:prstGeom prst="rect">
            <a:avLst/>
          </a:prstGeom>
          <a:noFill/>
          <a:ln/>
        </p:spPr>
        <p:txBody>
          <a:bodyPr wrap="square" lIns="0" tIns="0" rIns="0" bIns="0" rtlCol="0" anchor="ctr"/>
          <a:lstStyle/>
          <a:p>
            <a:pPr algn="l" indent="0" marL="0">
              <a:buNone/>
            </a:pPr>
            <a:r>
              <a:rPr lang="en-US" sz="4800" b="1" dirty="0">
                <a:solidFill>
                  <a:schemeClr val="accent2"/>
                </a:solidFill>
              </a:rPr>
              <a:t>0</a:t>
            </a:r>
            <a:endParaRPr lang="en-US" sz="4800" dirty="0"/>
          </a:p>
        </p:txBody>
      </p:sp>
      <p:sp>
        <p:nvSpPr>
          <p:cNvPr id="11" name="label 0"/>
          <p:cNvSpPr txBox="1"/>
          <p:nvPr/>
        </p:nvSpPr>
        <p:spPr>
          <a:xfrm>
            <a:off x="6583680" y="1920240"/>
            <a:ext cx="2011680" cy="640080"/>
          </a:xfrm>
          <a:prstGeom prst="rect">
            <a:avLst/>
          </a:prstGeom>
          <a:noFill/>
          <a:ln/>
        </p:spPr>
        <p:txBody>
          <a:bodyPr wrap="square" lIns="0" tIns="0" rIns="0" bIns="0" rtlCol="0" anchor="t"/>
          <a:lstStyle/>
          <a:p>
            <a:pPr algn="l" indent="0" marL="0">
              <a:buNone/>
            </a:pPr>
            <a:r>
              <a:rPr lang="en-US" sz="1400" dirty="0">
                <a:solidFill>
                  <a:schemeClr val="tx1"/>
                </a:solidFill>
              </a:rPr>
              <a:t>brief'ten builder'a sızan değer</a:t>
            </a:r>
            <a:endParaRPr lang="en-US" sz="1400" dirty="0"/>
          </a:p>
        </p:txBody>
      </p:sp>
      <p:graphicFrame>
        <p:nvGraphicFramePr>
          <p:cNvPr id="8" name="results table"/>
          <p:cNvGraphicFramePr>
            <a:graphicFrameLocks noGrp="1"/>
          </p:cNvGraphicFramePr>
          <p:nvPr>
            <p:extLst>
              <p:ext uri="{D42A27DB-BD31-4B8C-83A1-F6EECF244321}">
                <p14:modId xmlns:p14="http://schemas.microsoft.com/office/powerpoint/2010/main" val="1579011935"/>
              </p:ext>
            </p:extLst>
          </p:nvPr>
        </p:nvGraphicFramePr>
        <p:xfrm>
          <a:off x="548640" y="2926080"/>
          <a:ext cx="8046720" cy="914400"/>
        </p:xfrm>
        <a:graphic>
          <a:graphicData uri="http://schemas.openxmlformats.org/drawingml/2006/table">
            <a:tbl>
              <a:tblPr/>
              <a:tblGrid>
                <a:gridCol w="4023360"/>
                <a:gridCol w="2011680"/>
                <a:gridCol w="2011680"/>
              </a:tblGrid>
              <a:tr h="274320">
                <a:tc>
                  <a:txBody>
                    <a:bodyPr/>
                    <a:lstStyle/>
                    <a:p>
                      <a:pPr indent="0" marL="0">
                        <a:buNone/>
                      </a:pP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Brief A</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Brief B</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tx2"/>
                    </a:solidFill>
                  </a:tcPr>
                </a:tc>
              </a:tr>
              <a:tr h="274320">
                <a:tc>
                  <a:txBody>
                    <a:bodyPr/>
                    <a:lstStyle/>
                    <a:p>
                      <a:pPr indent="0" marL="0">
                        <a:buNone/>
                      </a:pPr>
                      <a:r>
                        <a:rPr lang="en-US" sz="1300" dirty="0">
                          <a:solidFill>
                            <a:schemeClr val="tx1"/>
                          </a:solidFill>
                        </a:rPr>
                        <a:t>Örnek builder, 1 çalıştırma</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10/10</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3/3</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r>
              <a:tr h="274320">
                <a:tc>
                  <a:txBody>
                    <a:bodyPr/>
                    <a:lstStyle/>
                    <a:p>
                      <a:pPr indent="0" marL="0">
                        <a:buNone/>
                      </a:pPr>
                      <a:r>
                        <a:rPr lang="en-US" sz="1300" dirty="0">
                          <a:solidFill>
                            <a:schemeClr val="tx1"/>
                          </a:solidFill>
                        </a:rPr>
                        <a:t>Örnek builder, 3 tekrar</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8/10</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yok</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r>
              <a:tr h="274320">
                <a:tc>
                  <a:txBody>
                    <a:bodyPr/>
                    <a:lstStyle/>
                    <a:p>
                      <a:pPr indent="0" marL="0">
                        <a:buNone/>
                      </a:pPr>
                      <a:r>
                        <a:rPr lang="en-US" sz="1300" dirty="0">
                          <a:solidFill>
                            <a:schemeClr val="tx1"/>
                          </a:solidFill>
                        </a:rPr>
                        <a:t>Örnek builder, gerçek konuşma tarzları</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6-9/10</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1-2/3</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r>
              <a:tr h="274320">
                <a:tc>
                  <a:txBody>
                    <a:bodyPr/>
                    <a:lstStyle/>
                    <a:p>
                      <a:pPr indent="0" marL="0">
                        <a:buNone/>
                      </a:pPr>
                      <a:r>
                        <a:rPr lang="en-US" sz="1300" dirty="0">
                          <a:solidFill>
                            <a:schemeClr val="tx1"/>
                          </a:solidFill>
                        </a:rPr>
                        <a:t>Bizim builder, son provalar</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8-9/10</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0-2/3</a:t>
                      </a:r>
                      <a:endParaRPr lang="en-US" sz="1300" dirty="0"/>
                    </a:p>
                  </a:txBody>
                  <a:tcPr marL="91440" marR="91440" marT="45720" marB="45720" anchor="ctr">
                    <a:lnL w="9525" cap="flat" cmpd="sng" algn="ctr">
                      <a:solidFill>
                        <a:srgbClr val="C9D6D3"/>
                      </a:solidFill>
                      <a:prstDash val="solid"/>
                      <a:round/>
                      <a:headEnd type="none" w="med" len="med"/>
                      <a:tailEnd type="none" w="med" len="med"/>
                    </a:lnL>
                    <a:lnR w="9525" cap="flat" cmpd="sng" algn="ctr">
                      <a:solidFill>
                        <a:srgbClr val="C9D6D3"/>
                      </a:solidFill>
                      <a:prstDash val="solid"/>
                      <a:round/>
                      <a:headEnd type="none" w="med" len="med"/>
                      <a:tailEnd type="none" w="med" len="med"/>
                    </a:lnR>
                    <a:lnT w="9525" cap="flat" cmpd="sng" algn="ctr">
                      <a:solidFill>
                        <a:srgbClr val="C9D6D3"/>
                      </a:solidFill>
                      <a:prstDash val="solid"/>
                      <a:round/>
                      <a:headEnd type="none" w="med" len="med"/>
                      <a:tailEnd type="none" w="med" len="med"/>
                    </a:lnT>
                    <a:lnB w="9525" cap="flat" cmpd="sng" algn="ctr">
                      <a:solidFill>
                        <a:srgbClr val="C9D6D3"/>
                      </a:solidFill>
                      <a:prstDash val="solid"/>
                      <a:round/>
                      <a:headEnd type="none" w="med" len="med"/>
                      <a:tailEnd type="none" w="med" len="med"/>
                    </a:lnB>
                    <a:solidFill>
                      <a:schemeClr val="bg2"/>
                    </a:solidFill>
                  </a:tcPr>
                </a:tc>
              </a:tr>
            </a:tbl>
          </a:graphicData>
        </a:graphic>
      </p:graphicFrame>
      <p:sp>
        <p:nvSpPr>
          <p:cNvPr id="13" name="caveat"/>
          <p:cNvSpPr txBox="1"/>
          <p:nvPr/>
        </p:nvSpPr>
        <p:spPr>
          <a:xfrm>
            <a:off x="548640" y="4434840"/>
            <a:ext cx="8046720" cy="457200"/>
          </a:xfrm>
          <a:prstGeom prst="rect">
            <a:avLst/>
          </a:prstGeom>
          <a:noFill/>
          <a:ln/>
        </p:spPr>
        <p:txBody>
          <a:bodyPr wrap="square" lIns="0" tIns="0" rIns="0" bIns="0" rtlCol="0" anchor="ctr"/>
          <a:lstStyle/>
          <a:p>
            <a:pPr indent="0" marL="0">
              <a:buNone/>
            </a:pPr>
            <a:r>
              <a:rPr lang="en-US" sz="1100" i="1" dirty="0">
                <a:solidFill>
                  <a:schemeClr val="accent4"/>
                </a:solidFill>
              </a:rPr>
              <a:t>Case başına tek çalıştırma, resmi scorer. Pratik memo'larımız kuralları değiştiriyor: izlediğimiz hatalar test uyuşmazlığıydı, ajan hatası değil.</a:t>
            </a:r>
            <a:endParaRPr lang="en-US" sz="11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Başarısızlıklar bize ne öğretti</a:t>
            </a:r>
            <a:endParaRPr lang="en-US" sz="3400" dirty="0"/>
          </a:p>
        </p:txBody>
      </p:sp>
      <p:sp>
        <p:nvSpPr>
          <p:cNvPr id="4" name="lessons left"/>
          <p:cNvSpPr/>
          <p:nvPr/>
        </p:nvSpPr>
        <p:spPr>
          <a:xfrm>
            <a:off x="548640" y="1188720"/>
            <a:ext cx="3931920" cy="3337560"/>
          </a:xfrm>
          <a:prstGeom prst="roundRect">
            <a:avLst>
              <a:gd name="adj" fmla="val 2192"/>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5" name="lessons right"/>
          <p:cNvSpPr/>
          <p:nvPr/>
        </p:nvSpPr>
        <p:spPr>
          <a:xfrm>
            <a:off x="4663440" y="1188720"/>
            <a:ext cx="3931920" cy="3337560"/>
          </a:xfrm>
          <a:prstGeom prst="roundRect">
            <a:avLst>
              <a:gd name="adj" fmla="val 2192"/>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6" name="learned head"/>
          <p:cNvSpPr txBox="1"/>
          <p:nvPr/>
        </p:nvSpPr>
        <p:spPr>
          <a:xfrm>
            <a:off x="777240" y="1325880"/>
            <a:ext cx="3474720" cy="365760"/>
          </a:xfrm>
          <a:prstGeom prst="rect">
            <a:avLst/>
          </a:prstGeom>
          <a:noFill/>
          <a:ln/>
        </p:spPr>
        <p:txBody>
          <a:bodyPr wrap="square" lIns="0" tIns="0" rIns="0" bIns="0" rtlCol="0" anchor="ctr"/>
          <a:lstStyle/>
          <a:p>
            <a:pPr indent="0" marL="0">
              <a:buNone/>
            </a:pPr>
            <a:r>
              <a:rPr lang="en-US" sz="1800" b="1" dirty="0">
                <a:solidFill>
                  <a:schemeClr val="accent2"/>
                </a:solidFill>
              </a:rPr>
              <a:t>Ne öğrendik</a:t>
            </a:r>
            <a:endParaRPr lang="en-US" sz="1800" dirty="0"/>
          </a:p>
        </p:txBody>
      </p:sp>
      <p:sp>
        <p:nvSpPr>
          <p:cNvPr id="7" name="learned body"/>
          <p:cNvSpPr txBox="1"/>
          <p:nvPr/>
        </p:nvSpPr>
        <p:spPr>
          <a:xfrm>
            <a:off x="777240" y="1783080"/>
            <a:ext cx="347472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Düzeltmeden önce transkripti oku: bir oturumda 11 hatanın 9'u ajan hatası değildi</a:t>
            </a:r>
            <a:endParaRPr lang="en-US" sz="1500" dirty="0"/>
          </a:p>
          <a:p>
            <a:pPr marL="342900" indent="-342900">
              <a:spcAft>
                <a:spcPts val="1000"/>
              </a:spcAft>
              <a:buSzPct val="100000"/>
              <a:buChar char="•"/>
            </a:pPr>
            <a:r>
              <a:rPr lang="en-US" sz="1500" dirty="0">
                <a:solidFill>
                  <a:schemeClr val="tx1"/>
                </a:solidFill>
              </a:rPr>
              <a:t>Pratik brief'lerimiz resmi olanlardan daha zor</a:t>
            </a:r>
            <a:endParaRPr lang="en-US" sz="1500" dirty="0"/>
          </a:p>
          <a:p>
            <a:pPr marL="342900" indent="-342900">
              <a:spcAft>
                <a:spcPts val="1000"/>
              </a:spcAft>
              <a:buSzPct val="100000"/>
              <a:buChar char="•"/>
            </a:pPr>
            <a:r>
              <a:rPr lang="en-US" sz="1500" dirty="0">
                <a:solidFill>
                  <a:schemeClr val="tx1"/>
                </a:solidFill>
              </a:rPr>
              <a:t>Ana risk platform hızı: söz yazılan 623 aramanın 4'ü sessizlikte bitti</a:t>
            </a:r>
            <a:endParaRPr lang="en-US" sz="1500" dirty="0"/>
          </a:p>
        </p:txBody>
      </p:sp>
      <p:sp>
        <p:nvSpPr>
          <p:cNvPr id="8" name="limits head"/>
          <p:cNvSpPr txBox="1"/>
          <p:nvPr/>
        </p:nvSpPr>
        <p:spPr>
          <a:xfrm>
            <a:off x="4892040" y="1325880"/>
            <a:ext cx="3474720" cy="365760"/>
          </a:xfrm>
          <a:prstGeom prst="rect">
            <a:avLst/>
          </a:prstGeom>
          <a:noFill/>
          <a:ln/>
        </p:spPr>
        <p:txBody>
          <a:bodyPr wrap="square" lIns="0" tIns="0" rIns="0" bIns="0" rtlCol="0" anchor="ctr"/>
          <a:lstStyle/>
          <a:p>
            <a:pPr indent="0" marL="0">
              <a:buNone/>
            </a:pPr>
            <a:r>
              <a:rPr lang="en-US" sz="1800" b="1" dirty="0">
                <a:solidFill>
                  <a:schemeClr val="accent3"/>
                </a:solidFill>
              </a:rPr>
              <a:t>Dürüst sınırlar</a:t>
            </a:r>
            <a:endParaRPr lang="en-US" sz="1800" dirty="0"/>
          </a:p>
        </p:txBody>
      </p:sp>
      <p:sp>
        <p:nvSpPr>
          <p:cNvPr id="9" name="limits body"/>
          <p:cNvSpPr txBox="1"/>
          <p:nvPr/>
        </p:nvSpPr>
        <p:spPr>
          <a:xfrm>
            <a:off x="4892040" y="1783080"/>
            <a:ext cx="347472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"Evet, onaylıyorum"dan sonra yaklaşık 10 adım; referans ajan yaklaşık 3</a:t>
            </a:r>
            <a:endParaRPr lang="en-US" sz="1500" dirty="0"/>
          </a:p>
          <a:p>
            <a:pPr marL="342900" indent="-342900">
              <a:spcAft>
                <a:spcPts val="1000"/>
              </a:spcAft>
              <a:buSzPct val="100000"/>
              <a:buChar char="•"/>
            </a:pPr>
            <a:r>
              <a:rPr lang="en-US" sz="1500" dirty="0">
                <a:solidFill>
                  <a:schemeClr val="tx1"/>
                </a:solidFill>
              </a:rPr>
              <a:t>Müşteri kapatınca close_call set edilmiyor</a:t>
            </a:r>
            <a:endParaRPr lang="en-US" sz="1500" dirty="0"/>
          </a:p>
          <a:p>
            <a:pPr marL="342900" indent="-342900">
              <a:spcAft>
                <a:spcPts val="1000"/>
              </a:spcAft>
              <a:buSzPct val="100000"/>
              <a:buChar char="•"/>
            </a:pPr>
            <a:r>
              <a:rPr lang="en-US" sz="1500" dirty="0">
                <a:solidFill>
                  <a:schemeClr val="tx1"/>
                </a:solidFill>
              </a:rPr>
              <a:t>Gözden geçirmede bulunan çok ürünlü motor hataları, onlar için case yazıldı</a:t>
            </a:r>
            <a:endParaRPr lang="en-US" sz="15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Her çalışma iz bırakır</a:t>
            </a:r>
            <a:endParaRPr lang="en-US" sz="3400" dirty="0"/>
          </a:p>
        </p:txBody>
      </p:sp>
      <p:sp>
        <p:nvSpPr>
          <p:cNvPr id="4" name="trace Trace"/>
          <p:cNvSpPr/>
          <p:nvPr/>
        </p:nvSpPr>
        <p:spPr>
          <a:xfrm>
            <a:off x="548640" y="1188720"/>
            <a:ext cx="2560320" cy="2651760"/>
          </a:xfrm>
          <a:prstGeom prst="roundRect">
            <a:avLst>
              <a:gd name="adj" fmla="val 285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5" name="trace head Trace"/>
          <p:cNvSpPr txBox="1"/>
          <p:nvPr/>
        </p:nvSpPr>
        <p:spPr>
          <a:xfrm>
            <a:off x="731520" y="1325880"/>
            <a:ext cx="2194560" cy="411480"/>
          </a:xfrm>
          <a:prstGeom prst="rect">
            <a:avLst/>
          </a:prstGeom>
          <a:noFill/>
          <a:ln/>
        </p:spPr>
        <p:txBody>
          <a:bodyPr wrap="square" lIns="0" tIns="0" rIns="0" bIns="0" rtlCol="0" anchor="ctr"/>
          <a:lstStyle/>
          <a:p>
            <a:pPr indent="0" marL="0">
              <a:buNone/>
            </a:pPr>
            <a:r>
              <a:rPr lang="en-US" sz="2000" b="1" dirty="0">
                <a:solidFill>
                  <a:schemeClr val="accent2"/>
                </a:solidFill>
              </a:rPr>
              <a:t>Trace</a:t>
            </a:r>
            <a:endParaRPr lang="en-US" sz="2000" dirty="0"/>
          </a:p>
        </p:txBody>
      </p:sp>
      <p:sp>
        <p:nvSpPr>
          <p:cNvPr id="6" name="trace path Trace"/>
          <p:cNvSpPr txBox="1"/>
          <p:nvPr/>
        </p:nvSpPr>
        <p:spPr>
          <a:xfrm>
            <a:off x="731520" y="1783080"/>
            <a:ext cx="2194560" cy="502920"/>
          </a:xfrm>
          <a:prstGeom prst="rect">
            <a:avLst/>
          </a:prstGeom>
          <a:noFill/>
          <a:ln/>
        </p:spPr>
        <p:txBody>
          <a:bodyPr wrap="square" lIns="0" tIns="0" rIns="0" bIns="0" rtlCol="0" anchor="t"/>
          <a:lstStyle/>
          <a:p>
            <a:pPr indent="0" marL="0">
              <a:buNone/>
            </a:pPr>
            <a:r>
              <a:rPr lang="en-US" sz="1200" b="1" dirty="0">
                <a:solidFill>
                  <a:schemeClr val="tx1"/>
                </a:solidFill>
              </a:rPr>
              <a:t>traces/&lt;slot&gt;-&lt;zaman&gt;.jsonl</a:t>
            </a:r>
            <a:endParaRPr lang="en-US" sz="1200" dirty="0"/>
          </a:p>
        </p:txBody>
      </p:sp>
      <p:sp>
        <p:nvSpPr>
          <p:cNvPr id="7" name="trace text Trace"/>
          <p:cNvSpPr txBox="1"/>
          <p:nvPr/>
        </p:nvSpPr>
        <p:spPr>
          <a:xfrm>
            <a:off x="731520" y="2331720"/>
            <a:ext cx="2194560" cy="1463040"/>
          </a:xfrm>
          <a:prstGeom prst="rect">
            <a:avLst/>
          </a:prstGeom>
          <a:noFill/>
          <a:ln/>
        </p:spPr>
        <p:txBody>
          <a:bodyPr wrap="square" lIns="0" tIns="0" rIns="0" bIns="0" rtlCol="0" anchor="t"/>
          <a:lstStyle/>
          <a:p>
            <a:pPr indent="0" marL="0">
              <a:buNone/>
            </a:pPr>
            <a:r>
              <a:rPr lang="en-US" sz="1300" dirty="0">
                <a:solidFill>
                  <a:schemeClr val="tx1"/>
                </a:solidFill>
              </a:rPr>
              <a:t>start, amaçlı model_call, çıktılı test, deployed, created, end. Hatalar ve watchdog olayları da.</a:t>
            </a:r>
            <a:endParaRPr lang="en-US" sz="1300" dirty="0"/>
          </a:p>
        </p:txBody>
      </p:sp>
      <p:sp>
        <p:nvSpPr>
          <p:cNvPr id="8" name="trace Ham döküm"/>
          <p:cNvSpPr/>
          <p:nvPr/>
        </p:nvSpPr>
        <p:spPr>
          <a:xfrm>
            <a:off x="3291840" y="1188720"/>
            <a:ext cx="2560320" cy="2651760"/>
          </a:xfrm>
          <a:prstGeom prst="roundRect">
            <a:avLst>
              <a:gd name="adj" fmla="val 285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9" name="trace head Ham döküm"/>
          <p:cNvSpPr txBox="1"/>
          <p:nvPr/>
        </p:nvSpPr>
        <p:spPr>
          <a:xfrm>
            <a:off x="3474720" y="1325880"/>
            <a:ext cx="2194560" cy="411480"/>
          </a:xfrm>
          <a:prstGeom prst="rect">
            <a:avLst/>
          </a:prstGeom>
          <a:noFill/>
          <a:ln/>
        </p:spPr>
        <p:txBody>
          <a:bodyPr wrap="square" lIns="0" tIns="0" rIns="0" bIns="0" rtlCol="0" anchor="ctr"/>
          <a:lstStyle/>
          <a:p>
            <a:pPr indent="0" marL="0">
              <a:buNone/>
            </a:pPr>
            <a:r>
              <a:rPr lang="en-US" sz="2000" b="1" dirty="0">
                <a:solidFill>
                  <a:schemeClr val="accent2"/>
                </a:solidFill>
              </a:rPr>
              <a:t>Ham döküm</a:t>
            </a:r>
            <a:endParaRPr lang="en-US" sz="2000" dirty="0"/>
          </a:p>
        </p:txBody>
      </p:sp>
      <p:sp>
        <p:nvSpPr>
          <p:cNvPr id="10" name="trace path Ham döküm"/>
          <p:cNvSpPr txBox="1"/>
          <p:nvPr/>
        </p:nvSpPr>
        <p:spPr>
          <a:xfrm>
            <a:off x="3474720" y="1783080"/>
            <a:ext cx="2194560" cy="502920"/>
          </a:xfrm>
          <a:prstGeom prst="rect">
            <a:avLst/>
          </a:prstGeom>
          <a:noFill/>
          <a:ln/>
        </p:spPr>
        <p:txBody>
          <a:bodyPr wrap="square" lIns="0" tIns="0" rIns="0" bIns="0" rtlCol="0" anchor="t"/>
          <a:lstStyle/>
          <a:p>
            <a:pPr indent="0" marL="0">
              <a:buNone/>
            </a:pPr>
            <a:r>
              <a:rPr lang="en-US" sz="1200" b="1" dirty="0">
                <a:solidFill>
                  <a:schemeClr val="tx1"/>
                </a:solidFill>
              </a:rPr>
              <a:t>çalışma klasöründe agent.jsonl</a:t>
            </a:r>
            <a:endParaRPr lang="en-US" sz="1200" dirty="0"/>
          </a:p>
        </p:txBody>
      </p:sp>
      <p:sp>
        <p:nvSpPr>
          <p:cNvPr id="11" name="trace text Ham döküm"/>
          <p:cNvSpPr txBox="1"/>
          <p:nvPr/>
        </p:nvSpPr>
        <p:spPr>
          <a:xfrm>
            <a:off x="3474720" y="2331720"/>
            <a:ext cx="2194560" cy="1463040"/>
          </a:xfrm>
          <a:prstGeom prst="rect">
            <a:avLst/>
          </a:prstGeom>
          <a:noFill/>
          <a:ln/>
        </p:spPr>
        <p:txBody>
          <a:bodyPr wrap="square" lIns="0" tIns="0" rIns="0" bIns="0" rtlCol="0" anchor="t"/>
          <a:lstStyle/>
          <a:p>
            <a:pPr indent="0" marL="0">
              <a:buNone/>
            </a:pPr>
            <a:r>
              <a:rPr lang="en-US" sz="1300" dirty="0">
                <a:solidFill>
                  <a:schemeClr val="tx1"/>
                </a:solidFill>
              </a:rPr>
              <a:t>Her mesaj: düşünce, girdili araç çağrıları, araç sonuçları, son maliyet ve tur sayısı.</a:t>
            </a:r>
            <a:endParaRPr lang="en-US" sz="1300" dirty="0"/>
          </a:p>
        </p:txBody>
      </p:sp>
      <p:sp>
        <p:nvSpPr>
          <p:cNvPr id="12" name="trace Sonuç"/>
          <p:cNvSpPr/>
          <p:nvPr/>
        </p:nvSpPr>
        <p:spPr>
          <a:xfrm>
            <a:off x="6035040" y="1188720"/>
            <a:ext cx="2560320" cy="2651760"/>
          </a:xfrm>
          <a:prstGeom prst="roundRect">
            <a:avLst>
              <a:gd name="adj" fmla="val 2857"/>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3" name="trace head Sonuç"/>
          <p:cNvSpPr txBox="1"/>
          <p:nvPr/>
        </p:nvSpPr>
        <p:spPr>
          <a:xfrm>
            <a:off x="6217920" y="1325880"/>
            <a:ext cx="2194560" cy="411480"/>
          </a:xfrm>
          <a:prstGeom prst="rect">
            <a:avLst/>
          </a:prstGeom>
          <a:noFill/>
          <a:ln/>
        </p:spPr>
        <p:txBody>
          <a:bodyPr wrap="square" lIns="0" tIns="0" rIns="0" bIns="0" rtlCol="0" anchor="ctr"/>
          <a:lstStyle/>
          <a:p>
            <a:pPr indent="0" marL="0">
              <a:buNone/>
            </a:pPr>
            <a:r>
              <a:rPr lang="en-US" sz="2000" b="1" dirty="0">
                <a:solidFill>
                  <a:schemeClr val="accent2"/>
                </a:solidFill>
              </a:rPr>
              <a:t>Sonuç</a:t>
            </a:r>
            <a:endParaRPr lang="en-US" sz="2000" dirty="0"/>
          </a:p>
        </p:txBody>
      </p:sp>
      <p:sp>
        <p:nvSpPr>
          <p:cNvPr id="14" name="trace path Sonuç"/>
          <p:cNvSpPr txBox="1"/>
          <p:nvPr/>
        </p:nvSpPr>
        <p:spPr>
          <a:xfrm>
            <a:off x="6217920" y="1783080"/>
            <a:ext cx="2194560" cy="502920"/>
          </a:xfrm>
          <a:prstGeom prst="rect">
            <a:avLst/>
          </a:prstGeom>
          <a:noFill/>
          <a:ln/>
        </p:spPr>
        <p:txBody>
          <a:bodyPr wrap="square" lIns="0" tIns="0" rIns="0" bIns="0" rtlCol="0" anchor="t"/>
          <a:lstStyle/>
          <a:p>
            <a:pPr indent="0" marL="0">
              <a:buNone/>
            </a:pPr>
            <a:r>
              <a:rPr lang="en-US" sz="1200" b="1" dirty="0">
                <a:solidFill>
                  <a:schemeClr val="tx1"/>
                </a:solidFill>
              </a:rPr>
              <a:t>submission/&lt;slot&gt;.workflow.json</a:t>
            </a:r>
            <a:endParaRPr lang="en-US" sz="1200" dirty="0"/>
          </a:p>
        </p:txBody>
      </p:sp>
      <p:sp>
        <p:nvSpPr>
          <p:cNvPr id="15" name="trace text Sonuç"/>
          <p:cNvSpPr txBox="1"/>
          <p:nvPr/>
        </p:nvSpPr>
        <p:spPr>
          <a:xfrm>
            <a:off x="6217920" y="2331720"/>
            <a:ext cx="2194560" cy="1463040"/>
          </a:xfrm>
          <a:prstGeom prst="rect">
            <a:avLst/>
          </a:prstGeom>
          <a:noFill/>
          <a:ln/>
        </p:spPr>
        <p:txBody>
          <a:bodyPr wrap="square" lIns="0" tIns="0" rIns="0" bIns="0" rtlCol="0" anchor="t"/>
          <a:lstStyle/>
          <a:p>
            <a:pPr indent="0" marL="0">
              <a:buNone/>
            </a:pPr>
            <a:r>
              <a:rPr lang="en-US" sz="1300" dirty="0">
                <a:solidFill>
                  <a:schemeClr val="tx1"/>
                </a:solidFill>
              </a:rPr>
              <a:t>Export edilen telefon ajanı; workflow ve agent id'leri trace'te.</a:t>
            </a:r>
            <a:endParaRPr lang="en-US" sz="1300" dirty="0"/>
          </a:p>
        </p:txBody>
      </p:sp>
      <p:sp>
        <p:nvSpPr>
          <p:cNvPr id="16" name="redaction"/>
          <p:cNvSpPr txBox="1"/>
          <p:nvPr/>
        </p:nvSpPr>
        <p:spPr>
          <a:xfrm>
            <a:off x="548640" y="4114800"/>
            <a:ext cx="8046720" cy="457200"/>
          </a:xfrm>
          <a:prstGeom prst="rect">
            <a:avLst/>
          </a:prstGeom>
          <a:noFill/>
          <a:ln/>
        </p:spPr>
        <p:txBody>
          <a:bodyPr wrap="square" lIns="0" tIns="0" rIns="0" bIns="0" rtlCol="0" anchor="ctr"/>
          <a:lstStyle/>
          <a:p>
            <a:pPr indent="0" marL="0">
              <a:buNone/>
            </a:pPr>
            <a:r>
              <a:rPr lang="en-US" sz="1400" i="1" dirty="0">
                <a:solidFill>
                  <a:schemeClr val="accent4"/>
                </a:solidFill>
              </a:rPr>
              <a:t>fak_... ve sk-ant-... ile başlayan anahtarlar ile tanımlı sırlar, bir şey yazılmadan önce temizlenir.</a:t>
            </a:r>
            <a:endParaRPr lang="en-US" sz="1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400" b="1" dirty="0">
                <a:solidFill>
                  <a:schemeClr val="tx1"/>
                </a:solidFill>
              </a:rPr>
              <a:t>Bilinmeyen finale hazır</a:t>
            </a:r>
            <a:endParaRPr lang="en-US" sz="3400" dirty="0"/>
          </a:p>
        </p:txBody>
      </p:sp>
      <p:sp>
        <p:nvSpPr>
          <p:cNvPr id="4" name="final Her girdi"/>
          <p:cNvSpPr/>
          <p:nvPr/>
        </p:nvSpPr>
        <p:spPr>
          <a:xfrm>
            <a:off x="548640" y="1188720"/>
            <a:ext cx="39319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5" name="final head Her girdi"/>
          <p:cNvSpPr txBox="1"/>
          <p:nvPr/>
        </p:nvSpPr>
        <p:spPr>
          <a:xfrm>
            <a:off x="777240" y="1325880"/>
            <a:ext cx="3474720" cy="411480"/>
          </a:xfrm>
          <a:prstGeom prst="rect">
            <a:avLst/>
          </a:prstGeom>
          <a:noFill/>
          <a:ln/>
        </p:spPr>
        <p:txBody>
          <a:bodyPr wrap="square" lIns="0" tIns="0" rIns="0" bIns="0" rtlCol="0" anchor="ctr"/>
          <a:lstStyle/>
          <a:p>
            <a:pPr indent="0" marL="0">
              <a:buNone/>
            </a:pPr>
            <a:r>
              <a:rPr lang="en-US" sz="1800" b="1" dirty="0">
                <a:solidFill>
                  <a:schemeClr val="accent2"/>
                </a:solidFill>
              </a:rPr>
              <a:t>Her girdi</a:t>
            </a:r>
            <a:endParaRPr lang="en-US" sz="1800" dirty="0"/>
          </a:p>
        </p:txBody>
      </p:sp>
      <p:sp>
        <p:nvSpPr>
          <p:cNvPr id="6" name="final text Her girdi"/>
          <p:cNvSpPr txBox="1"/>
          <p:nvPr/>
        </p:nvSpPr>
        <p:spPr>
          <a:xfrm>
            <a:off x="777240" y="1783080"/>
            <a:ext cx="3474720" cy="822960"/>
          </a:xfrm>
          <a:prstGeom prst="rect">
            <a:avLst/>
          </a:prstGeom>
          <a:noFill/>
          <a:ln/>
        </p:spPr>
        <p:txBody>
          <a:bodyPr wrap="square" lIns="0" tIns="0" rIns="0" bIns="0" rtlCol="0" anchor="t"/>
          <a:lstStyle/>
          <a:p>
            <a:pPr indent="0" marL="0">
              <a:buNone/>
            </a:pPr>
            <a:r>
              <a:rPr lang="en-US" sz="1400" dirty="0">
                <a:solidFill>
                  <a:schemeClr val="tx1"/>
                </a:solidFill>
              </a:rPr>
              <a:t>Bir belge klasörü ya da tek bir brief; bir araç API dosyası ya da canlı mock URL'i.</a:t>
            </a:r>
            <a:endParaRPr lang="en-US" sz="1400" dirty="0"/>
          </a:p>
        </p:txBody>
      </p:sp>
      <p:sp>
        <p:nvSpPr>
          <p:cNvPr id="7" name="final Her dil"/>
          <p:cNvSpPr/>
          <p:nvPr/>
        </p:nvSpPr>
        <p:spPr>
          <a:xfrm>
            <a:off x="4663440" y="1188720"/>
            <a:ext cx="39319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8" name="final head Her dil"/>
          <p:cNvSpPr txBox="1"/>
          <p:nvPr/>
        </p:nvSpPr>
        <p:spPr>
          <a:xfrm>
            <a:off x="4892040" y="1325880"/>
            <a:ext cx="3474720" cy="411480"/>
          </a:xfrm>
          <a:prstGeom prst="rect">
            <a:avLst/>
          </a:prstGeom>
          <a:noFill/>
          <a:ln/>
        </p:spPr>
        <p:txBody>
          <a:bodyPr wrap="square" lIns="0" tIns="0" rIns="0" bIns="0" rtlCol="0" anchor="ctr"/>
          <a:lstStyle/>
          <a:p>
            <a:pPr indent="0" marL="0">
              <a:buNone/>
            </a:pPr>
            <a:r>
              <a:rPr lang="en-US" sz="1800" b="1" dirty="0">
                <a:solidFill>
                  <a:schemeClr val="accent2"/>
                </a:solidFill>
              </a:rPr>
              <a:t>Her dil</a:t>
            </a:r>
            <a:endParaRPr lang="en-US" sz="1800" dirty="0"/>
          </a:p>
        </p:txBody>
      </p:sp>
      <p:sp>
        <p:nvSpPr>
          <p:cNvPr id="9" name="final text Her dil"/>
          <p:cNvSpPr txBox="1"/>
          <p:nvPr/>
        </p:nvSpPr>
        <p:spPr>
          <a:xfrm>
            <a:off x="4892040" y="1783080"/>
            <a:ext cx="3474720" cy="822960"/>
          </a:xfrm>
          <a:prstGeom prst="rect">
            <a:avLst/>
          </a:prstGeom>
          <a:noFill/>
          <a:ln/>
        </p:spPr>
        <p:txBody>
          <a:bodyPr wrap="square" lIns="0" tIns="0" rIns="0" bIns="0" rtlCol="0" anchor="t"/>
          <a:lstStyle/>
          <a:p>
            <a:pPr indent="0" marL="0">
              <a:buNone/>
            </a:pPr>
            <a:r>
              <a:rPr lang="en-US" sz="1400" dirty="0">
                <a:solidFill>
                  <a:schemeClr val="tx1"/>
                </a:solidFill>
              </a:rPr>
              <a:t>Telefon ajanı brief'in dilinde konuşur; tüm sabit cümleler o dilde yazılır.</a:t>
            </a:r>
            <a:endParaRPr lang="en-US" sz="1400" dirty="0"/>
          </a:p>
        </p:txBody>
      </p:sp>
      <p:sp>
        <p:nvSpPr>
          <p:cNvPr id="10" name="final Yeni alan adları"/>
          <p:cNvSpPr/>
          <p:nvPr/>
        </p:nvSpPr>
        <p:spPr>
          <a:xfrm>
            <a:off x="548640" y="2880360"/>
            <a:ext cx="3931920" cy="1508760"/>
          </a:xfrm>
          <a:prstGeom prst="roundRect">
            <a:avLst>
              <a:gd name="adj" fmla="val 4848"/>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1" name="final head Yeni alan adları"/>
          <p:cNvSpPr txBox="1"/>
          <p:nvPr/>
        </p:nvSpPr>
        <p:spPr>
          <a:xfrm>
            <a:off x="777240" y="3017520"/>
            <a:ext cx="3474720" cy="411480"/>
          </a:xfrm>
          <a:prstGeom prst="rect">
            <a:avLst/>
          </a:prstGeom>
          <a:noFill/>
          <a:ln/>
        </p:spPr>
        <p:txBody>
          <a:bodyPr wrap="square" lIns="0" tIns="0" rIns="0" bIns="0" rtlCol="0" anchor="ctr"/>
          <a:lstStyle/>
          <a:p>
            <a:pPr indent="0" marL="0">
              <a:buNone/>
            </a:pPr>
            <a:r>
              <a:rPr lang="en-US" sz="1800" b="1" dirty="0">
                <a:solidFill>
                  <a:schemeClr val="accent2"/>
                </a:solidFill>
              </a:rPr>
              <a:t>Yeni alan adları</a:t>
            </a:r>
            <a:endParaRPr lang="en-US" sz="1800" dirty="0"/>
          </a:p>
        </p:txBody>
      </p:sp>
      <p:sp>
        <p:nvSpPr>
          <p:cNvPr id="12" name="final text Yeni alan adları"/>
          <p:cNvSpPr txBox="1"/>
          <p:nvPr/>
        </p:nvSpPr>
        <p:spPr>
          <a:xfrm>
            <a:off x="777240" y="3474720"/>
            <a:ext cx="3474720" cy="822960"/>
          </a:xfrm>
          <a:prstGeom prst="rect">
            <a:avLst/>
          </a:prstGeom>
          <a:noFill/>
          <a:ln/>
        </p:spPr>
        <p:txBody>
          <a:bodyPr wrap="square" lIns="0" tIns="0" rIns="0" bIns="0" rtlCol="0" anchor="t"/>
          <a:lstStyle/>
          <a:p>
            <a:pPr indent="0" marL="0">
              <a:buNone/>
            </a:pPr>
            <a:r>
              <a:rPr lang="en-US" sz="1400" dirty="0">
                <a:solidFill>
                  <a:schemeClr val="tx1"/>
                </a:solidFill>
              </a:rPr>
              <a:t>API'de olmayan gömülü alan build'i durdurur. Yeniden adlandırılmış alanlarla test geçti.</a:t>
            </a:r>
            <a:endParaRPr lang="en-US" sz="1400" dirty="0"/>
          </a:p>
        </p:txBody>
      </p:sp>
      <p:sp>
        <p:nvSpPr>
          <p:cNvPr id="13" name="final Sırada"/>
          <p:cNvSpPr/>
          <p:nvPr/>
        </p:nvSpPr>
        <p:spPr>
          <a:xfrm>
            <a:off x="4663440" y="2880360"/>
            <a:ext cx="3931920" cy="1508760"/>
          </a:xfrm>
          <a:prstGeom prst="roundRect">
            <a:avLst>
              <a:gd name="adj" fmla="val 4848"/>
            </a:avLst>
          </a:prstGeom>
          <a:solidFill>
            <a:schemeClr val="tx2"/>
          </a:solidFill>
          <a:ln w="12700">
            <a:solidFill>
              <a:schemeClr val="tx2"/>
            </a:solidFill>
            <a:prstDash val="solid"/>
          </a:ln>
          <a:effectLst>
            <a:outerShdw sx="100000" sy="100000" kx="0" ky="0" algn="bl" rotWithShape="0" blurRad="76200" dist="25400" dir="5400000">
              <a:srgbClr val="000000">
                <a:alpha val="15000"/>
              </a:srgbClr>
            </a:outerShdw>
          </a:effectLst>
        </p:spPr>
      </p:sp>
      <p:sp>
        <p:nvSpPr>
          <p:cNvPr id="14" name="final head Sırada"/>
          <p:cNvSpPr txBox="1"/>
          <p:nvPr/>
        </p:nvSpPr>
        <p:spPr>
          <a:xfrm>
            <a:off x="4892040" y="3017520"/>
            <a:ext cx="3474720" cy="411480"/>
          </a:xfrm>
          <a:prstGeom prst="rect">
            <a:avLst/>
          </a:prstGeom>
          <a:noFill/>
          <a:ln/>
        </p:spPr>
        <p:txBody>
          <a:bodyPr wrap="square" lIns="0" tIns="0" rIns="0" bIns="0" rtlCol="0" anchor="ctr"/>
          <a:lstStyle/>
          <a:p>
            <a:pPr indent="0" marL="0">
              <a:buNone/>
            </a:pPr>
            <a:r>
              <a:rPr lang="en-US" sz="1800" b="1" dirty="0">
                <a:solidFill>
                  <a:schemeClr val="accent1"/>
                </a:solidFill>
              </a:rPr>
              <a:t>Sırada</a:t>
            </a:r>
            <a:endParaRPr lang="en-US" sz="1800" dirty="0"/>
          </a:p>
        </p:txBody>
      </p:sp>
      <p:sp>
        <p:nvSpPr>
          <p:cNvPr id="15" name="final text Sırada"/>
          <p:cNvSpPr txBox="1"/>
          <p:nvPr/>
        </p:nvSpPr>
        <p:spPr>
          <a:xfrm>
            <a:off x="4892040" y="3474720"/>
            <a:ext cx="3474720" cy="822960"/>
          </a:xfrm>
          <a:prstGeom prst="rect">
            <a:avLst/>
          </a:prstGeom>
          <a:noFill/>
          <a:ln/>
        </p:spPr>
        <p:txBody>
          <a:bodyPr wrap="square" lIns="0" tIns="0" rIns="0" bIns="0" rtlCol="0" anchor="t"/>
          <a:lstStyle/>
          <a:p>
            <a:pPr indent="0" marL="0">
              <a:buNone/>
            </a:pPr>
            <a:r>
              <a:rPr lang="en-US" sz="1400" dirty="0">
                <a:solidFill>
                  <a:schemeClr val="bg1"/>
                </a:solidFill>
              </a:rPr>
              <a:t>Onaydan sonra daha az adım. Kapatmada close_call. Çok ürünlü motor düzeltmeleri.</a:t>
            </a:r>
            <a:endParaRPr lang="en-US" sz="1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lIns="0" tIns="0" rIns="0" bIns="0" rtlCol="0" anchor="t"/>
          <a:lstStyle/>
          <a:p>
            <a:pPr algn="l" indent="0" marL="0">
              <a:buNone/>
            </a:pPr>
            <a:r>
              <a:rPr lang="en-US" sz="4800" b="1" dirty="0">
                <a:solidFill>
                  <a:schemeClr val="bg1"/>
                </a:solidFill>
              </a:rPr>
              <a:t>Kod karar verir. Model anlar.</a:t>
            </a:r>
            <a:endParaRPr lang="en-US" sz="4800" dirty="0"/>
          </a:p>
        </p:txBody>
      </p:sp>
      <p:sp>
        <p:nvSpPr>
          <p:cNvPr id="3" name="questions"/>
          <p:cNvSpPr txBox="1"/>
          <p:nvPr/>
        </p:nvSpPr>
        <p:spPr>
          <a:xfrm>
            <a:off x="548640" y="3383280"/>
            <a:ext cx="5486400" cy="457200"/>
          </a:xfrm>
          <a:prstGeom prst="rect">
            <a:avLst/>
          </a:prstGeom>
          <a:noFill/>
          <a:ln/>
        </p:spPr>
        <p:txBody>
          <a:bodyPr wrap="square" lIns="0" tIns="0" rIns="0" bIns="0" rtlCol="0" anchor="ctr"/>
          <a:lstStyle/>
          <a:p>
            <a:pPr indent="0" marL="0">
              <a:buNone/>
            </a:pPr>
            <a:r>
              <a:rPr lang="en-US" sz="2200" dirty="0">
                <a:solidFill>
                  <a:schemeClr val="accent1"/>
                </a:solidFill>
              </a:rPr>
              <a:t>Sorular</a:t>
            </a:r>
            <a:endParaRPr lang="en-US" sz="22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Builder">
  <a:themeElements>
    <a:clrScheme name="Builder">
      <a:dk1>
        <a:srgbClr val="0E1F24"/>
      </a:dk1>
      <a:lt1>
        <a:srgbClr val="FFFFFF"/>
      </a:lt1>
      <a:dk2>
        <a:srgbClr val="163A41"/>
      </a:dk2>
      <a:lt2>
        <a:srgbClr val="EDF3F2"/>
      </a:lt2>
      <a:accent1>
        <a:srgbClr val="F2A93B"/>
      </a:accent1>
      <a:accent2>
        <a:srgbClr val="2FA39A"/>
      </a:accent2>
      <a:accent3>
        <a:srgbClr val="E4572E"/>
      </a:accent3>
      <a:accent4>
        <a:srgbClr val="5B7C99"/>
      </a:accent4>
      <a:accent5>
        <a:srgbClr val="8FB8AE"/>
      </a:accent5>
      <a:accent6>
        <a:srgbClr val="C9D6D3"/>
      </a:accent6>
      <a:hlink>
        <a:srgbClr val="2FA39A"/>
      </a:hlink>
      <a:folHlink>
        <a:srgbClr val="5B7C99"/>
      </a:folHlink>
    </a:clrScheme>
    <a:fontScheme name="Build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Builder: yazan değil, derleyen bir sistem</dc:title>
  <dc:subject>PptxGenJS Presentation</dc:subject>
  <dc:creator>PptxGenJS</dc:creator>
  <cp:lastModifiedBy>PptxGenJS</cp:lastModifiedBy>
  <cp:revision>1</cp:revision>
  <dcterms:created xsi:type="dcterms:W3CDTF">2026-10-11T17:04:58Z</dcterms:created>
  <dcterms:modified xsi:type="dcterms:W3CDTF">2026-10-11T17:04:58Z</dcterms:modified>
</cp:coreProperties>
</file>