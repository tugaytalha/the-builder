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1565c17e-ba0c-6bc7-b8aa-0abd8c7fdea5}">
          <p14:sldIdLst>
            <p14:sldId id="256"/>
          </p14:sldIdLst>
        </p14:section>
        <p14:section name="Idea" id="{6f540d43-0961-2ad1-1458-298e7db0d78d}">
          <p14:sldIdLst>
            <p14:sldId id="257"/>
          </p14:sldIdLst>
        </p14:section>
        <p14:section name="How it works" id="{fe8c23b4-e4e1-a8e7-0635-8841e13bbef2}">
          <p14:sldIdLst>
            <p14:sldId id="258"/>
            <p14:sldId id="259"/>
            <p14:sldId id="260"/>
          </p14:sldIdLst>
        </p14:section>
        <p14:section name="Trust" id="{4a40e2ce-dcfa-cb77-7f52-1635d1d6f6e8}">
          <p14:sldIdLst>
            <p14:sldId id="261"/>
          </p14:sldIdLst>
        </p14:section>
        <p14:section name="Evidence" id="{49aa5ce2-2bdc-dabd-b316-dfbdb664fa83}">
          <p14:sldIdLst>
            <p14:sldId id="262"/>
            <p14:sldId id="263"/>
          </p14:sldIdLst>
        </p14:section>
        <p14:section name="Transparency" id="{cb5749b8-ff5a-e8fb-8666-925c0014a79b}">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our builder does not ask a model to write a phone agent. It compiles one: the model reads the brief, our tested code builds the agent, and a gate decides what reaches Freya.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tau^tau-bench paper measured the obvious approach, a coding agent that writes the whole agent. The best setup passed 23.9% overall and 5.9% on banking. 92% of what it built was one LLM tool loop. Our setting is harsher: the phone agent runs on a fixed, weaker model, a case counts only if all three runs pass, and there is no partial credit. So we did not let the model own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 is one Claude Agent SDK session that follows a short skill. It reads the brief and the tool API as data. Instructions inside a brief are rules for the phone agent, never commands for the builder. It writes a ledger of atomic rules, each tagged with the mechanism that will hold it. Then a spec, then the generator, built from our tested library. Nothing is deployed until the checks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lesson that shaped the builder. In one rehearsal, an unverified caller gave a wrong date of birth, and the model skipped to a different question, then said an invented debt, 'You owe 150 dollars', 25 times. A prompt rule did not hold. The fix: the identity check's code chooses the next question and the exact line, and the node speaks it as fixed text. After the fix the same case passed 3 of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does not write workflow JSON by hand. It calls a library of about 1,400 lines with 146 tests. The hard parts, identity, negotiation and the bank write loop, are written once and tested. For a new brief the model only supplies the decide, first_ask and finish functions for one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rules that keep a bad run from costing us. The gate means a broken workflow never replaces a good one. The contamination check proves the builder directory holds no value copied from any practice brief, so we are not memorizing. Keys are redacted from every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scored with the official scorer, Freya's simulated customer and judge. Brief B was held out: we never fixed anything from it. Our own practice briefs are harder than the official ones because their memos change rules, so two of the failures were the agent obeying our memo while the scorer expected the old rule. These are single runs per case; the final rule is three of three, so treat them as a trend, not a final score. The example builder numbers come from our first day of baseline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every failed transcript before changing anything. In one session, 9 of 11 failures were not agent defects: test mismatches, platform slowness, simulator artifacts. The remaining risk is platform speed: silence after 'Yes, I confirm' is platform step time multiplied by our step count. We measured about 10 steps for us and about 3 for the reference agent. We also found, by review, real defects in the multi-product engine that the three official cases never trigger. We wrote cases for them and did not hide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hackathon asks for a trace per run: start and end time, each model call with a one-line purpose, what was created, and any test. Ours is a JSON-lines file plus a plain-text print. Next to it is a raw dump of every agent message, so a juror can read exactly what the builder saw and did. Both are redacted before they are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is one Turkish case: a folder of documents and a bank mock. The builder reads the folder, the tool API comes from the mock's OpenAPI file, and it builds in the brief's language. Since the organizers said fields can change, a baked field that the API lacks stops the build with the API's own field names, and we tested a build with renamed fields. Next steps are the ones in the honest-limits slide: fewer steps after the confirm, close_call on hang-up, and the multi-product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idea: the model reads and phrases, code decides and speaks the lines that matter, and a gate protects what reaches Freya.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t"/>
          <a:lstStyle/>
          <a:p>
            <a:pPr algn="l" indent="0" marL="0">
              <a:buNone/>
            </a:pPr>
            <a:r>
              <a:rPr lang="en-US" sz="4800" b="1" dirty="0">
                <a:solidFill>
                  <a:schemeClr val="bg1"/>
                </a:solidFill>
              </a:rPr>
              <a:t>The Builder</a:t>
            </a:r>
            <a:endParaRPr lang="en-US" sz="4800" dirty="0"/>
          </a:p>
        </p:txBody>
      </p:sp>
      <p:sp>
        <p:nvSpPr>
          <p:cNvPr id="3" name="subtitle"/>
          <p:cNvSpPr txBox="1"/>
          <p:nvPr/>
        </p:nvSpPr>
        <p:spPr>
          <a:xfrm>
            <a:off x="548640" y="2514600"/>
            <a:ext cx="6949440" cy="914400"/>
          </a:xfrm>
          <a:prstGeom prst="rect">
            <a:avLst/>
          </a:prstGeom>
          <a:noFill/>
          <a:ln/>
        </p:spPr>
        <p:txBody>
          <a:bodyPr wrap="square" lIns="0" tIns="0" rIns="0" bIns="0" rtlCol="0" anchor="t"/>
          <a:lstStyle/>
          <a:p>
            <a:pPr algn="l" indent="0" marL="0">
              <a:buNone/>
            </a:pPr>
            <a:r>
              <a:rPr lang="en-US" sz="2200" dirty="0">
                <a:solidFill>
                  <a:schemeClr val="accent1"/>
                </a:solidFill>
              </a:rPr>
              <a:t>A compiler, not a writer: how our builder turns a bank's brief into a phone agent</a:t>
            </a:r>
            <a:endParaRPr lang="en-US" sz="2200" dirty="0"/>
          </a:p>
        </p:txBody>
      </p:sp>
      <p:sp>
        <p:nvSpPr>
          <p:cNvPr id="4" name="event"/>
          <p:cNvSpPr txBox="1"/>
          <p:nvPr/>
        </p:nvSpPr>
        <p:spPr>
          <a:xfrm>
            <a:off x="548640" y="4297680"/>
            <a:ext cx="7315200" cy="365760"/>
          </a:xfrm>
          <a:prstGeom prst="rect">
            <a:avLst/>
          </a:prstGeom>
          <a:noFill/>
          <a:ln/>
        </p:spPr>
        <p:txBody>
          <a:bodyPr wrap="square" lIns="0" tIns="0" rIns="0" bIns="0" rtlCol="0" anchor="ctr"/>
          <a:lstStyle/>
          <a:p>
            <a:pPr indent="0" marL="0">
              <a:buNone/>
            </a:pPr>
            <a:r>
              <a:rPr lang="en-US" sz="1400" dirty="0">
                <a:solidFill>
                  <a:schemeClr val="accent5"/>
                </a:solidFill>
              </a:rPr>
              <a:t>Freya x Y Combinator | Build the Builder | 10-11 October 2026</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Code decides, the model phrases</a:t>
            </a:r>
            <a:endParaRPr lang="en-US" sz="3400" dirty="0"/>
          </a:p>
        </p:txBody>
      </p:sp>
      <p:sp>
        <p:nvSpPr>
          <p:cNvPr id="4" name="stat 23.9%"/>
          <p:cNvSpPr txBox="1"/>
          <p:nvPr/>
        </p:nvSpPr>
        <p:spPr>
          <a:xfrm>
            <a:off x="548640" y="1188720"/>
            <a:ext cx="2468880" cy="777240"/>
          </a:xfrm>
          <a:prstGeom prst="rect">
            <a:avLst/>
          </a:prstGeom>
          <a:noFill/>
          <a:ln/>
        </p:spPr>
        <p:txBody>
          <a:bodyPr wrap="square" lIns="0" tIns="0" rIns="0" bIns="0" rtlCol="0" anchor="ctr"/>
          <a:lstStyle/>
          <a:p>
            <a:pPr algn="l" indent="0" marL="0">
              <a:buNone/>
            </a:pPr>
            <a:r>
              <a:rPr lang="en-US" sz="4800" b="1" dirty="0">
                <a:solidFill>
                  <a:schemeClr val="accent3"/>
                </a:solidFill>
              </a:rPr>
              <a:t>23.9%</a:t>
            </a:r>
            <a:endParaRPr lang="en-US" sz="4800" dirty="0"/>
          </a:p>
        </p:txBody>
      </p:sp>
      <p:sp>
        <p:nvSpPr>
          <p:cNvPr id="5" name="label 23.9%"/>
          <p:cNvSpPr txBox="1"/>
          <p:nvPr/>
        </p:nvSpPr>
        <p:spPr>
          <a:xfrm>
            <a:off x="548640" y="1965960"/>
            <a:ext cx="2468880" cy="640080"/>
          </a:xfrm>
          <a:prstGeom prst="rect">
            <a:avLst/>
          </a:prstGeom>
          <a:noFill/>
          <a:ln/>
        </p:spPr>
        <p:txBody>
          <a:bodyPr wrap="square" lIns="0" tIns="0" rIns="0" bIns="0" rtlCol="0" anchor="t"/>
          <a:lstStyle/>
          <a:p>
            <a:pPr algn="l" indent="0" marL="0">
              <a:buNone/>
            </a:pPr>
            <a:r>
              <a:rPr lang="en-US" sz="1400" dirty="0">
                <a:solidFill>
                  <a:schemeClr val="tx1"/>
                </a:solidFill>
              </a:rPr>
              <a:t>best coding-agent builder in τ^τ-bench, overall</a:t>
            </a:r>
            <a:endParaRPr lang="en-US" sz="1400" dirty="0"/>
          </a:p>
        </p:txBody>
      </p:sp>
      <p:sp>
        <p:nvSpPr>
          <p:cNvPr id="6" name="stat 5.9%"/>
          <p:cNvSpPr txBox="1"/>
          <p:nvPr/>
        </p:nvSpPr>
        <p:spPr>
          <a:xfrm>
            <a:off x="3337560" y="1188720"/>
            <a:ext cx="2468880" cy="777240"/>
          </a:xfrm>
          <a:prstGeom prst="rect">
            <a:avLst/>
          </a:prstGeom>
          <a:noFill/>
          <a:ln/>
        </p:spPr>
        <p:txBody>
          <a:bodyPr wrap="square" lIns="0" tIns="0" rIns="0" bIns="0" rtlCol="0" anchor="ctr"/>
          <a:lstStyle/>
          <a:p>
            <a:pPr algn="l" indent="0" marL="0">
              <a:buNone/>
            </a:pPr>
            <a:r>
              <a:rPr lang="en-US" sz="4800" b="1" dirty="0">
                <a:solidFill>
                  <a:schemeClr val="accent3"/>
                </a:solidFill>
              </a:rPr>
              <a:t>5.9%</a:t>
            </a:r>
            <a:endParaRPr lang="en-US" sz="4800" dirty="0"/>
          </a:p>
        </p:txBody>
      </p:sp>
      <p:sp>
        <p:nvSpPr>
          <p:cNvPr id="7" name="label 5.9%"/>
          <p:cNvSpPr txBox="1"/>
          <p:nvPr/>
        </p:nvSpPr>
        <p:spPr>
          <a:xfrm>
            <a:off x="3337560" y="1965960"/>
            <a:ext cx="2468880" cy="640080"/>
          </a:xfrm>
          <a:prstGeom prst="rect">
            <a:avLst/>
          </a:prstGeom>
          <a:noFill/>
          <a:ln/>
        </p:spPr>
        <p:txBody>
          <a:bodyPr wrap="square" lIns="0" tIns="0" rIns="0" bIns="0" rtlCol="0" anchor="t"/>
          <a:lstStyle/>
          <a:p>
            <a:pPr algn="l" indent="0" marL="0">
              <a:buNone/>
            </a:pPr>
            <a:r>
              <a:rPr lang="en-US" sz="1400" dirty="0">
                <a:solidFill>
                  <a:schemeClr val="tx1"/>
                </a:solidFill>
              </a:rPr>
              <a:t>the same builder on banking tasks</a:t>
            </a:r>
            <a:endParaRPr lang="en-US" sz="1400" dirty="0"/>
          </a:p>
        </p:txBody>
      </p:sp>
      <p:sp>
        <p:nvSpPr>
          <p:cNvPr id="8" name="stat 92%"/>
          <p:cNvSpPr txBox="1"/>
          <p:nvPr/>
        </p:nvSpPr>
        <p:spPr>
          <a:xfrm>
            <a:off x="6126480" y="1188720"/>
            <a:ext cx="2468880" cy="777240"/>
          </a:xfrm>
          <a:prstGeom prst="rect">
            <a:avLst/>
          </a:prstGeom>
          <a:noFill/>
          <a:ln/>
        </p:spPr>
        <p:txBody>
          <a:bodyPr wrap="square" lIns="0" tIns="0" rIns="0" bIns="0" rtlCol="0" anchor="ctr"/>
          <a:lstStyle/>
          <a:p>
            <a:pPr algn="l" indent="0" marL="0">
              <a:buNone/>
            </a:pPr>
            <a:r>
              <a:rPr lang="en-US" sz="4800" b="1" dirty="0">
                <a:solidFill>
                  <a:schemeClr val="accent2"/>
                </a:solidFill>
              </a:rPr>
              <a:t>92%</a:t>
            </a:r>
            <a:endParaRPr lang="en-US" sz="4800" dirty="0"/>
          </a:p>
        </p:txBody>
      </p:sp>
      <p:sp>
        <p:nvSpPr>
          <p:cNvPr id="9" name="label 92%"/>
          <p:cNvSpPr txBox="1"/>
          <p:nvPr/>
        </p:nvSpPr>
        <p:spPr>
          <a:xfrm>
            <a:off x="6126480" y="1965960"/>
            <a:ext cx="2468880" cy="640080"/>
          </a:xfrm>
          <a:prstGeom prst="rect">
            <a:avLst/>
          </a:prstGeom>
          <a:noFill/>
          <a:ln/>
        </p:spPr>
        <p:txBody>
          <a:bodyPr wrap="square" lIns="0" tIns="0" rIns="0" bIns="0" rtlCol="0" anchor="t"/>
          <a:lstStyle/>
          <a:p>
            <a:pPr algn="l" indent="0" marL="0">
              <a:buNone/>
            </a:pPr>
            <a:r>
              <a:rPr lang="en-US" sz="1400" dirty="0">
                <a:solidFill>
                  <a:schemeClr val="tx1"/>
                </a:solidFill>
              </a:rPr>
              <a:t>of the agents it built were one LLM tool loop</a:t>
            </a:r>
            <a:endParaRPr lang="en-US" sz="1400" dirty="0"/>
          </a:p>
        </p:txBody>
      </p:sp>
      <p:sp>
        <p:nvSpPr>
          <p:cNvPr id="10" name="bet card"/>
          <p:cNvSpPr/>
          <p:nvPr/>
        </p:nvSpPr>
        <p:spPr>
          <a:xfrm>
            <a:off x="548640" y="2971800"/>
            <a:ext cx="804672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1" name="bet text"/>
          <p:cNvSpPr txBox="1"/>
          <p:nvPr/>
        </p:nvSpPr>
        <p:spPr>
          <a:xfrm>
            <a:off x="777240" y="3108960"/>
            <a:ext cx="7589520" cy="1280160"/>
          </a:xfrm>
          <a:prstGeom prst="rect">
            <a:avLst/>
          </a:prstGeom>
          <a:noFill/>
          <a:ln/>
        </p:spPr>
        <p:txBody>
          <a:bodyPr wrap="square" lIns="0" tIns="0" rIns="0" bIns="0" rtlCol="0" anchor="ctr"/>
          <a:lstStyle/>
          <a:p>
            <a:pPr indent="0" marL="0">
              <a:spcAft>
                <a:spcPts val="800"/>
              </a:spcAft>
              <a:buNone/>
            </a:pPr>
            <a:r>
              <a:rPr lang="en-US" sz="1600" b="1" dirty="0">
                <a:solidFill>
                  <a:schemeClr val="tx1"/>
                </a:solidFill>
              </a:rPr>
              <a:t>Our setting is harsher: </a:t>
            </a:r>
            <a:pPr indent="0" marL="0">
              <a:spcAft>
                <a:spcPts val="800"/>
              </a:spcAft>
              <a:buNone/>
            </a:pPr>
            <a:r>
              <a:rPr lang="en-US" sz="1600" dirty="0">
                <a:solidFill>
                  <a:schemeClr val="tx1"/>
                </a:solidFill>
              </a:rPr>
              <a:t>a fixed, weaker phone model, all 3 runs must pass, no partial credit.</a:t>
            </a:r>
            <a:endParaRPr lang="en-US" sz="1600" dirty="0"/>
          </a:p>
          <a:p>
            <a:pPr indent="0" marL="0">
              <a:spcAft>
                <a:spcPts val="800"/>
              </a:spcAft>
              <a:buNone/>
            </a:pPr>
            <a:r>
              <a:rPr lang="en-US" sz="1600" b="1" dirty="0">
                <a:solidFill>
                  <a:schemeClr val="tx1"/>
                </a:solidFill>
              </a:rPr>
              <a:t>So the model reads and understands. </a:t>
            </a:r>
            <a:pPr indent="0" marL="0">
              <a:spcAft>
                <a:spcPts val="800"/>
              </a:spcAft>
              <a:buNone/>
            </a:pPr>
            <a:r>
              <a:rPr lang="en-US" sz="1600" dirty="0">
                <a:solidFill>
                  <a:schemeClr val="tx1"/>
                </a:solidFill>
              </a:rPr>
              <a:t>Code computes every date, amount, counter and outcome, and speaks every line the brief mandates.</a:t>
            </a:r>
            <a:endParaRPr lang="en-US" sz="16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One run, from brief to phone agent</a:t>
            </a:r>
            <a:endParaRPr lang="en-US" sz="3400" dirty="0"/>
          </a:p>
        </p:txBody>
      </p:sp>
      <p:sp>
        <p:nvSpPr>
          <p:cNvPr id="4" name="step 1"/>
          <p:cNvSpPr/>
          <p:nvPr/>
        </p:nvSpPr>
        <p:spPr>
          <a:xfrm>
            <a:off x="548640" y="118872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badge 1"/>
          <p:cNvSpPr/>
          <p:nvPr/>
        </p:nvSpPr>
        <p:spPr>
          <a:xfrm>
            <a:off x="685800" y="1325880"/>
            <a:ext cx="411480" cy="411480"/>
          </a:xfrm>
          <a:prstGeom prst="ellipse">
            <a:avLst/>
          </a:prstGeom>
          <a:solidFill>
            <a:schemeClr val="accent1"/>
          </a:solidFill>
          <a:ln w="12700">
            <a:solidFill>
              <a:schemeClr val="accent1"/>
            </a:solidFill>
            <a:prstDash val="solid"/>
          </a:ln>
        </p:spPr>
      </p:sp>
      <p:sp>
        <p:nvSpPr>
          <p:cNvPr id="6" name="badge n 1"/>
          <p:cNvSpPr txBox="1"/>
          <p:nvPr/>
        </p:nvSpPr>
        <p:spPr>
          <a:xfrm>
            <a:off x="685800" y="132588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step title 1"/>
          <p:cNvSpPr txBox="1"/>
          <p:nvPr/>
        </p:nvSpPr>
        <p:spPr>
          <a:xfrm>
            <a:off x="1188720" y="1325880"/>
            <a:ext cx="1828800" cy="411480"/>
          </a:xfrm>
          <a:prstGeom prst="rect">
            <a:avLst/>
          </a:prstGeom>
          <a:noFill/>
          <a:ln/>
        </p:spPr>
        <p:txBody>
          <a:bodyPr wrap="square" lIns="0" tIns="0" rIns="0" bIns="0" rtlCol="0" anchor="ctr"/>
          <a:lstStyle/>
          <a:p>
            <a:pPr indent="0" marL="0">
              <a:buNone/>
            </a:pPr>
            <a:r>
              <a:rPr lang="en-US" sz="1600" b="1" dirty="0">
                <a:solidFill>
                  <a:schemeClr val="tx1"/>
                </a:solidFill>
              </a:rPr>
              <a:t>Read</a:t>
            </a:r>
            <a:endParaRPr lang="en-US" sz="1600" dirty="0"/>
          </a:p>
        </p:txBody>
      </p:sp>
      <p:sp>
        <p:nvSpPr>
          <p:cNvPr id="8" name="step text 1"/>
          <p:cNvSpPr txBox="1"/>
          <p:nvPr/>
        </p:nvSpPr>
        <p:spPr>
          <a:xfrm>
            <a:off x="685800" y="1828800"/>
            <a:ext cx="2286000" cy="868680"/>
          </a:xfrm>
          <a:prstGeom prst="rect">
            <a:avLst/>
          </a:prstGeom>
          <a:noFill/>
          <a:ln/>
        </p:spPr>
        <p:txBody>
          <a:bodyPr wrap="square" lIns="0" tIns="0" rIns="0" bIns="0" rtlCol="0" anchor="t"/>
          <a:lstStyle/>
          <a:p>
            <a:pPr indent="0" marL="0">
              <a:buNone/>
            </a:pPr>
            <a:r>
              <a:rPr lang="en-US" sz="1200" dirty="0">
                <a:solidFill>
                  <a:schemeClr val="tx1"/>
                </a:solidFill>
              </a:rPr>
              <a:t>Brief and tool API as data. Case folders become one text: Word, Excel, PDF, images.</a:t>
            </a:r>
            <a:endParaRPr lang="en-US" sz="1200" dirty="0"/>
          </a:p>
        </p:txBody>
      </p:sp>
      <p:sp>
        <p:nvSpPr>
          <p:cNvPr id="9" name="step 2"/>
          <p:cNvSpPr/>
          <p:nvPr/>
        </p:nvSpPr>
        <p:spPr>
          <a:xfrm>
            <a:off x="3291840" y="118872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badge 2"/>
          <p:cNvSpPr/>
          <p:nvPr/>
        </p:nvSpPr>
        <p:spPr>
          <a:xfrm>
            <a:off x="3429000" y="1325880"/>
            <a:ext cx="411480" cy="411480"/>
          </a:xfrm>
          <a:prstGeom prst="ellipse">
            <a:avLst/>
          </a:prstGeom>
          <a:solidFill>
            <a:schemeClr val="accent1"/>
          </a:solidFill>
          <a:ln w="12700">
            <a:solidFill>
              <a:schemeClr val="accent1"/>
            </a:solidFill>
            <a:prstDash val="solid"/>
          </a:ln>
        </p:spPr>
      </p:sp>
      <p:sp>
        <p:nvSpPr>
          <p:cNvPr id="11" name="badge n 2"/>
          <p:cNvSpPr txBox="1"/>
          <p:nvPr/>
        </p:nvSpPr>
        <p:spPr>
          <a:xfrm>
            <a:off x="3429000" y="132588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2" name="step title 2"/>
          <p:cNvSpPr txBox="1"/>
          <p:nvPr/>
        </p:nvSpPr>
        <p:spPr>
          <a:xfrm>
            <a:off x="3931920" y="1325880"/>
            <a:ext cx="1828800" cy="411480"/>
          </a:xfrm>
          <a:prstGeom prst="rect">
            <a:avLst/>
          </a:prstGeom>
          <a:noFill/>
          <a:ln/>
        </p:spPr>
        <p:txBody>
          <a:bodyPr wrap="square" lIns="0" tIns="0" rIns="0" bIns="0" rtlCol="0" anchor="ctr"/>
          <a:lstStyle/>
          <a:p>
            <a:pPr indent="0" marL="0">
              <a:buNone/>
            </a:pPr>
            <a:r>
              <a:rPr lang="en-US" sz="1600" b="1" dirty="0">
                <a:solidFill>
                  <a:schemeClr val="tx1"/>
                </a:solidFill>
              </a:rPr>
              <a:t>Ledger</a:t>
            </a:r>
            <a:endParaRPr lang="en-US" sz="1600" dirty="0"/>
          </a:p>
        </p:txBody>
      </p:sp>
      <p:sp>
        <p:nvSpPr>
          <p:cNvPr id="13" name="step text 2"/>
          <p:cNvSpPr txBox="1"/>
          <p:nvPr/>
        </p:nvSpPr>
        <p:spPr>
          <a:xfrm>
            <a:off x="3429000" y="1828800"/>
            <a:ext cx="2286000" cy="868680"/>
          </a:xfrm>
          <a:prstGeom prst="rect">
            <a:avLst/>
          </a:prstGeom>
          <a:noFill/>
          <a:ln/>
        </p:spPr>
        <p:txBody>
          <a:bodyPr wrap="square" lIns="0" tIns="0" rIns="0" bIns="0" rtlCol="0" anchor="t"/>
          <a:lstStyle/>
          <a:p>
            <a:pPr indent="0" marL="0">
              <a:buNone/>
            </a:pPr>
            <a:r>
              <a:rPr lang="en-US" sz="1200" dirty="0">
                <a:solidFill>
                  <a:schemeClr val="tx1"/>
                </a:solidFill>
              </a:rPr>
              <a:t>Atomic rules, each with a mechanism: code, route, tool, fixed line or prompt.</a:t>
            </a:r>
            <a:endParaRPr lang="en-US" sz="1200" dirty="0"/>
          </a:p>
        </p:txBody>
      </p:sp>
      <p:sp>
        <p:nvSpPr>
          <p:cNvPr id="14" name="step 3"/>
          <p:cNvSpPr/>
          <p:nvPr/>
        </p:nvSpPr>
        <p:spPr>
          <a:xfrm>
            <a:off x="6035040" y="118872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5" name="badge 3"/>
          <p:cNvSpPr/>
          <p:nvPr/>
        </p:nvSpPr>
        <p:spPr>
          <a:xfrm>
            <a:off x="6172200" y="1325880"/>
            <a:ext cx="411480" cy="411480"/>
          </a:xfrm>
          <a:prstGeom prst="ellipse">
            <a:avLst/>
          </a:prstGeom>
          <a:solidFill>
            <a:schemeClr val="accent1"/>
          </a:solidFill>
          <a:ln w="12700">
            <a:solidFill>
              <a:schemeClr val="accent1"/>
            </a:solidFill>
            <a:prstDash val="solid"/>
          </a:ln>
        </p:spPr>
      </p:sp>
      <p:sp>
        <p:nvSpPr>
          <p:cNvPr id="16" name="badge n 3"/>
          <p:cNvSpPr txBox="1"/>
          <p:nvPr/>
        </p:nvSpPr>
        <p:spPr>
          <a:xfrm>
            <a:off x="6172200" y="132588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7" name="step title 3"/>
          <p:cNvSpPr txBox="1"/>
          <p:nvPr/>
        </p:nvSpPr>
        <p:spPr>
          <a:xfrm>
            <a:off x="6675120" y="1325880"/>
            <a:ext cx="1828800" cy="411480"/>
          </a:xfrm>
          <a:prstGeom prst="rect">
            <a:avLst/>
          </a:prstGeom>
          <a:noFill/>
          <a:ln/>
        </p:spPr>
        <p:txBody>
          <a:bodyPr wrap="square" lIns="0" tIns="0" rIns="0" bIns="0" rtlCol="0" anchor="ctr"/>
          <a:lstStyle/>
          <a:p>
            <a:pPr indent="0" marL="0">
              <a:buNone/>
            </a:pPr>
            <a:r>
              <a:rPr lang="en-US" sz="1600" b="1" dirty="0">
                <a:solidFill>
                  <a:schemeClr val="tx1"/>
                </a:solidFill>
              </a:rPr>
              <a:t>Spec and generator</a:t>
            </a:r>
            <a:endParaRPr lang="en-US" sz="1600" dirty="0"/>
          </a:p>
        </p:txBody>
      </p:sp>
      <p:sp>
        <p:nvSpPr>
          <p:cNvPr id="18" name="step text 3"/>
          <p:cNvSpPr txBox="1"/>
          <p:nvPr/>
        </p:nvSpPr>
        <p:spPr>
          <a:xfrm>
            <a:off x="6172200" y="1828800"/>
            <a:ext cx="2286000" cy="868680"/>
          </a:xfrm>
          <a:prstGeom prst="rect">
            <a:avLst/>
          </a:prstGeom>
          <a:noFill/>
          <a:ln/>
        </p:spPr>
        <p:txBody>
          <a:bodyPr wrap="square" lIns="0" tIns="0" rIns="0" bIns="0" rtlCol="0" anchor="t"/>
          <a:lstStyle/>
          <a:p>
            <a:pPr indent="0" marL="0">
              <a:buNone/>
            </a:pPr>
            <a:r>
              <a:rPr lang="en-US" sz="1200" dirty="0">
                <a:solidFill>
                  <a:schemeClr val="tx1"/>
                </a:solidFill>
              </a:rPr>
              <a:t>Every value lives in spec.json. build_agent.py assembles the workflow from the library.</a:t>
            </a:r>
            <a:endParaRPr lang="en-US" sz="1200" dirty="0"/>
          </a:p>
        </p:txBody>
      </p:sp>
      <p:sp>
        <p:nvSpPr>
          <p:cNvPr id="19" name="step 4"/>
          <p:cNvSpPr/>
          <p:nvPr/>
        </p:nvSpPr>
        <p:spPr>
          <a:xfrm>
            <a:off x="548640" y="283464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0" name="badge 4"/>
          <p:cNvSpPr/>
          <p:nvPr/>
        </p:nvSpPr>
        <p:spPr>
          <a:xfrm>
            <a:off x="685800" y="2971800"/>
            <a:ext cx="411480" cy="411480"/>
          </a:xfrm>
          <a:prstGeom prst="ellipse">
            <a:avLst/>
          </a:prstGeom>
          <a:solidFill>
            <a:schemeClr val="accent1"/>
          </a:solidFill>
          <a:ln w="12700">
            <a:solidFill>
              <a:schemeClr val="accent1"/>
            </a:solidFill>
            <a:prstDash val="solid"/>
          </a:ln>
        </p:spPr>
      </p:sp>
      <p:sp>
        <p:nvSpPr>
          <p:cNvPr id="21" name="badge n 4"/>
          <p:cNvSpPr txBox="1"/>
          <p:nvPr/>
        </p:nvSpPr>
        <p:spPr>
          <a:xfrm>
            <a:off x="685800" y="297180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2" name="step title 4"/>
          <p:cNvSpPr txBox="1"/>
          <p:nvPr/>
        </p:nvSpPr>
        <p:spPr>
          <a:xfrm>
            <a:off x="1188720" y="2971800"/>
            <a:ext cx="1828800" cy="411480"/>
          </a:xfrm>
          <a:prstGeom prst="rect">
            <a:avLst/>
          </a:prstGeom>
          <a:noFill/>
          <a:ln/>
        </p:spPr>
        <p:txBody>
          <a:bodyPr wrap="square" lIns="0" tIns="0" rIns="0" bIns="0" rtlCol="0" anchor="ctr"/>
          <a:lstStyle/>
          <a:p>
            <a:pPr indent="0" marL="0">
              <a:buNone/>
            </a:pPr>
            <a:r>
              <a:rPr lang="en-US" sz="1600" b="1" dirty="0">
                <a:solidFill>
                  <a:schemeClr val="tx1"/>
                </a:solidFill>
              </a:rPr>
              <a:t>Checks</a:t>
            </a:r>
            <a:endParaRPr lang="en-US" sz="1600" dirty="0"/>
          </a:p>
        </p:txBody>
      </p:sp>
      <p:sp>
        <p:nvSpPr>
          <p:cNvPr id="23" name="step text 4"/>
          <p:cNvSpPr txBox="1"/>
          <p:nvPr/>
        </p:nvSpPr>
        <p:spPr>
          <a:xfrm>
            <a:off x="685800" y="3474720"/>
            <a:ext cx="2286000" cy="868680"/>
          </a:xfrm>
          <a:prstGeom prst="rect">
            <a:avLst/>
          </a:prstGeom>
          <a:noFill/>
          <a:ln/>
        </p:spPr>
        <p:txBody>
          <a:bodyPr wrap="square" lIns="0" tIns="0" rIns="0" bIns="0" rtlCol="0" anchor="t"/>
          <a:lstStyle/>
          <a:p>
            <a:pPr indent="0" marL="0">
              <a:buNone/>
            </a:pPr>
            <a:r>
              <a:rPr lang="en-US" sz="1200" dirty="0">
                <a:solidFill>
                  <a:schemeClr val="tx1"/>
                </a:solidFill>
              </a:rPr>
              <a:t>Lint, snippet tests, rule tests with hand-computed values, dry run.</a:t>
            </a:r>
            <a:endParaRPr lang="en-US" sz="1200" dirty="0"/>
          </a:p>
        </p:txBody>
      </p:sp>
      <p:sp>
        <p:nvSpPr>
          <p:cNvPr id="24" name="step 5"/>
          <p:cNvSpPr/>
          <p:nvPr/>
        </p:nvSpPr>
        <p:spPr>
          <a:xfrm>
            <a:off x="3291840" y="283464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5" name="badge 5"/>
          <p:cNvSpPr/>
          <p:nvPr/>
        </p:nvSpPr>
        <p:spPr>
          <a:xfrm>
            <a:off x="3429000" y="2971800"/>
            <a:ext cx="411480" cy="411480"/>
          </a:xfrm>
          <a:prstGeom prst="ellipse">
            <a:avLst/>
          </a:prstGeom>
          <a:solidFill>
            <a:schemeClr val="accent1"/>
          </a:solidFill>
          <a:ln w="12700">
            <a:solidFill>
              <a:schemeClr val="accent1"/>
            </a:solidFill>
            <a:prstDash val="solid"/>
          </a:ln>
        </p:spPr>
      </p:sp>
      <p:sp>
        <p:nvSpPr>
          <p:cNvPr id="26" name="badge n 5"/>
          <p:cNvSpPr txBox="1"/>
          <p:nvPr/>
        </p:nvSpPr>
        <p:spPr>
          <a:xfrm>
            <a:off x="3429000" y="297180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7" name="step title 5"/>
          <p:cNvSpPr txBox="1"/>
          <p:nvPr/>
        </p:nvSpPr>
        <p:spPr>
          <a:xfrm>
            <a:off x="3931920" y="2971800"/>
            <a:ext cx="1828800" cy="411480"/>
          </a:xfrm>
          <a:prstGeom prst="rect">
            <a:avLst/>
          </a:prstGeom>
          <a:noFill/>
          <a:ln/>
        </p:spPr>
        <p:txBody>
          <a:bodyPr wrap="square" lIns="0" tIns="0" rIns="0" bIns="0" rtlCol="0" anchor="ctr"/>
          <a:lstStyle/>
          <a:p>
            <a:pPr indent="0" marL="0">
              <a:buNone/>
            </a:pPr>
            <a:r>
              <a:rPr lang="en-US" sz="1600" b="1" dirty="0">
                <a:solidFill>
                  <a:schemeClr val="tx1"/>
                </a:solidFill>
              </a:rPr>
              <a:t>Gate, deploy, smoke</a:t>
            </a:r>
            <a:endParaRPr lang="en-US" sz="1600" dirty="0"/>
          </a:p>
        </p:txBody>
      </p:sp>
      <p:sp>
        <p:nvSpPr>
          <p:cNvPr id="28" name="step text 5"/>
          <p:cNvSpPr txBox="1"/>
          <p:nvPr/>
        </p:nvSpPr>
        <p:spPr>
          <a:xfrm>
            <a:off x="3429000" y="3474720"/>
            <a:ext cx="2286000" cy="868680"/>
          </a:xfrm>
          <a:prstGeom prst="rect">
            <a:avLst/>
          </a:prstGeom>
          <a:noFill/>
          <a:ln/>
        </p:spPr>
        <p:txBody>
          <a:bodyPr wrap="square" lIns="0" tIns="0" rIns="0" bIns="0" rtlCol="0" anchor="t"/>
          <a:lstStyle/>
          <a:p>
            <a:pPr indent="0" marL="0">
              <a:buNone/>
            </a:pPr>
            <a:r>
              <a:rPr lang="en-US" sz="1200" dirty="0">
                <a:solidFill>
                  <a:schemeClr val="tx1"/>
                </a:solidFill>
              </a:rPr>
              <a:t>Only the gate deploys. Short scripted chats test the opening, a relative, a robot question.</a:t>
            </a:r>
            <a:endParaRPr lang="en-US" sz="1200" dirty="0"/>
          </a:p>
        </p:txBody>
      </p:sp>
      <p:sp>
        <p:nvSpPr>
          <p:cNvPr id="29" name="step 6"/>
          <p:cNvSpPr/>
          <p:nvPr/>
        </p:nvSpPr>
        <p:spPr>
          <a:xfrm>
            <a:off x="6035040" y="283464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30" name="badge 6"/>
          <p:cNvSpPr/>
          <p:nvPr/>
        </p:nvSpPr>
        <p:spPr>
          <a:xfrm>
            <a:off x="6172200" y="2971800"/>
            <a:ext cx="411480" cy="411480"/>
          </a:xfrm>
          <a:prstGeom prst="ellipse">
            <a:avLst/>
          </a:prstGeom>
          <a:solidFill>
            <a:schemeClr val="accent1"/>
          </a:solidFill>
          <a:ln w="12700">
            <a:solidFill>
              <a:schemeClr val="accent1"/>
            </a:solidFill>
            <a:prstDash val="solid"/>
          </a:ln>
        </p:spPr>
      </p:sp>
      <p:sp>
        <p:nvSpPr>
          <p:cNvPr id="31" name="badge n 6"/>
          <p:cNvSpPr txBox="1"/>
          <p:nvPr/>
        </p:nvSpPr>
        <p:spPr>
          <a:xfrm>
            <a:off x="6172200" y="297180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32" name="step title 6"/>
          <p:cNvSpPr txBox="1"/>
          <p:nvPr/>
        </p:nvSpPr>
        <p:spPr>
          <a:xfrm>
            <a:off x="6675120" y="2971800"/>
            <a:ext cx="1828800" cy="411480"/>
          </a:xfrm>
          <a:prstGeom prst="rect">
            <a:avLst/>
          </a:prstGeom>
          <a:noFill/>
          <a:ln/>
        </p:spPr>
        <p:txBody>
          <a:bodyPr wrap="square" lIns="0" tIns="0" rIns="0" bIns="0" rtlCol="0" anchor="ctr"/>
          <a:lstStyle/>
          <a:p>
            <a:pPr indent="0" marL="0">
              <a:buNone/>
            </a:pPr>
            <a:r>
              <a:rPr lang="en-US" sz="1600" b="1" dirty="0">
                <a:solidFill>
                  <a:schemeClr val="tx1"/>
                </a:solidFill>
              </a:rPr>
              <a:t>Review and export</a:t>
            </a:r>
            <a:endParaRPr lang="en-US" sz="1600" dirty="0"/>
          </a:p>
        </p:txBody>
      </p:sp>
      <p:sp>
        <p:nvSpPr>
          <p:cNvPr id="33" name="step text 6"/>
          <p:cNvSpPr txBox="1"/>
          <p:nvPr/>
        </p:nvSpPr>
        <p:spPr>
          <a:xfrm>
            <a:off x="6172200" y="3474720"/>
            <a:ext cx="2286000" cy="868680"/>
          </a:xfrm>
          <a:prstGeom prst="rect">
            <a:avLst/>
          </a:prstGeom>
          <a:noFill/>
          <a:ln/>
        </p:spPr>
        <p:txBody>
          <a:bodyPr wrap="square" lIns="0" tIns="0" rIns="0" bIns="0" rtlCol="0" anchor="t"/>
          <a:lstStyle/>
          <a:p>
            <a:pPr indent="0" marL="0">
              <a:buNone/>
            </a:pPr>
            <a:r>
              <a:rPr lang="en-US" sz="1200" dirty="0">
                <a:solidFill>
                  <a:schemeClr val="tx1"/>
                </a:solidFill>
              </a:rPr>
              <a:t>An independent reviewer walks ten scenarios on paper. Then the workflow is exported.</a:t>
            </a:r>
            <a:endParaRPr lang="en-US" sz="1200" dirty="0"/>
          </a:p>
        </p:txBody>
      </p:sp>
      <p:sp>
        <p:nvSpPr>
          <p:cNvPr id="34" name="timing"/>
          <p:cNvSpPr txBox="1"/>
          <p:nvPr/>
        </p:nvSpPr>
        <p:spPr>
          <a:xfrm>
            <a:off x="548640" y="4434840"/>
            <a:ext cx="7680960" cy="320040"/>
          </a:xfrm>
          <a:prstGeom prst="rect">
            <a:avLst/>
          </a:prstGeom>
          <a:noFill/>
          <a:ln/>
        </p:spPr>
        <p:txBody>
          <a:bodyPr wrap="square" lIns="0" tIns="0" rIns="0" bIns="0" rtlCol="0" anchor="ctr"/>
          <a:lstStyle/>
          <a:p>
            <a:pPr indent="0" marL="0">
              <a:buNone/>
            </a:pPr>
            <a:r>
              <a:rPr lang="en-US" sz="1300" dirty="0">
                <a:solidFill>
                  <a:schemeClr val="accent4"/>
                </a:solidFill>
              </a:rPr>
              <a:t>Builds take 452-656 s. A watchdog stops the agent at 25 minutes.</a:t>
            </a:r>
            <a:endParaRPr lang="en-US" sz="13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The code speaks every line that matters</a:t>
            </a:r>
            <a:endParaRPr lang="en-US" sz="3400" dirty="0"/>
          </a:p>
        </p:txBody>
      </p:sp>
      <p:sp>
        <p:nvSpPr>
          <p:cNvPr id="4" name="prompt column"/>
          <p:cNvSpPr/>
          <p:nvPr/>
        </p:nvSpPr>
        <p:spPr>
          <a:xfrm>
            <a:off x="548640" y="1188720"/>
            <a:ext cx="3931920" cy="2926080"/>
          </a:xfrm>
          <a:prstGeom prst="roundRect">
            <a:avLst>
              <a:gd name="adj" fmla="val 2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code column"/>
          <p:cNvSpPr/>
          <p:nvPr/>
        </p:nvSpPr>
        <p:spPr>
          <a:xfrm>
            <a:off x="4663440" y="1188720"/>
            <a:ext cx="3931920" cy="2926080"/>
          </a:xfrm>
          <a:prstGeom prst="roundRect">
            <a:avLst>
              <a:gd name="adj" fmla="val 2500"/>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6" name="prompt head"/>
          <p:cNvSpPr txBox="1"/>
          <p:nvPr/>
        </p:nvSpPr>
        <p:spPr>
          <a:xfrm>
            <a:off x="777240" y="1325880"/>
            <a:ext cx="3474720" cy="411480"/>
          </a:xfrm>
          <a:prstGeom prst="rect">
            <a:avLst/>
          </a:prstGeom>
          <a:noFill/>
          <a:ln/>
        </p:spPr>
        <p:txBody>
          <a:bodyPr wrap="square" lIns="0" tIns="0" rIns="0" bIns="0" rtlCol="0" anchor="ctr"/>
          <a:lstStyle/>
          <a:p>
            <a:pPr indent="0" marL="0">
              <a:buNone/>
            </a:pPr>
            <a:r>
              <a:rPr lang="en-US" sz="2000" b="1" dirty="0">
                <a:solidFill>
                  <a:schemeClr val="accent3"/>
                </a:solidFill>
              </a:rPr>
              <a:t>A rule in the prompt</a:t>
            </a:r>
            <a:endParaRPr lang="en-US" sz="2000" dirty="0"/>
          </a:p>
        </p:txBody>
      </p:sp>
      <p:sp>
        <p:nvSpPr>
          <p:cNvPr id="7" name="prompt body"/>
          <p:cNvSpPr txBox="1"/>
          <p:nvPr/>
        </p:nvSpPr>
        <p:spPr>
          <a:xfrm>
            <a:off x="777240" y="1828800"/>
            <a:ext cx="347472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The model skipped an identity question</a:t>
            </a:r>
            <a:endParaRPr lang="en-US" sz="1500" dirty="0"/>
          </a:p>
          <a:p>
            <a:pPr marL="342900" indent="-342900">
              <a:spcAft>
                <a:spcPts val="800"/>
              </a:spcAft>
              <a:buSzPct val="100000"/>
              <a:buChar char="•"/>
            </a:pPr>
            <a:r>
              <a:rPr lang="en-US" sz="1500" dirty="0">
                <a:solidFill>
                  <a:schemeClr val="tx1"/>
                </a:solidFill>
              </a:rPr>
              <a:t>It invented a debt for an unverified caller, 25 times</a:t>
            </a:r>
            <a:endParaRPr lang="en-US" sz="1500" dirty="0"/>
          </a:p>
          <a:p>
            <a:pPr marL="342900" indent="-342900">
              <a:spcAft>
                <a:spcPts val="800"/>
              </a:spcAft>
              <a:buSzPct val="100000"/>
              <a:buChar char="•"/>
            </a:pPr>
            <a:r>
              <a:rPr lang="en-US" sz="1500" dirty="0">
                <a:solidFill>
                  <a:schemeClr val="tx1"/>
                </a:solidFill>
              </a:rPr>
              <a:t>It changed offers mid-negotiation</a:t>
            </a:r>
            <a:endParaRPr lang="en-US" sz="1500" dirty="0"/>
          </a:p>
        </p:txBody>
      </p:sp>
      <p:sp>
        <p:nvSpPr>
          <p:cNvPr id="8" name="code head"/>
          <p:cNvSpPr txBox="1"/>
          <p:nvPr/>
        </p:nvSpPr>
        <p:spPr>
          <a:xfrm>
            <a:off x="4892040" y="1325880"/>
            <a:ext cx="3474720" cy="411480"/>
          </a:xfrm>
          <a:prstGeom prst="rect">
            <a:avLst/>
          </a:prstGeom>
          <a:noFill/>
          <a:ln/>
        </p:spPr>
        <p:txBody>
          <a:bodyPr wrap="square" lIns="0" tIns="0" rIns="0" bIns="0" rtlCol="0" anchor="ctr"/>
          <a:lstStyle/>
          <a:p>
            <a:pPr indent="0" marL="0">
              <a:buNone/>
            </a:pPr>
            <a:r>
              <a:rPr lang="en-US" sz="2000" b="1" dirty="0">
                <a:solidFill>
                  <a:schemeClr val="accent1"/>
                </a:solidFill>
              </a:rPr>
              <a:t>A rule in code</a:t>
            </a:r>
            <a:endParaRPr lang="en-US" sz="2000" dirty="0"/>
          </a:p>
        </p:txBody>
      </p:sp>
      <p:sp>
        <p:nvSpPr>
          <p:cNvPr id="9" name="code body"/>
          <p:cNvSpPr txBox="1"/>
          <p:nvPr/>
        </p:nvSpPr>
        <p:spPr>
          <a:xfrm>
            <a:off x="4892040" y="1828800"/>
            <a:ext cx="347472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Code picks the next question and the exact line</a:t>
            </a:r>
            <a:endParaRPr lang="en-US" sz="1500" dirty="0"/>
          </a:p>
          <a:p>
            <a:pPr marL="342900" indent="-342900">
              <a:spcAft>
                <a:spcPts val="800"/>
              </a:spcAft>
              <a:buSzPct val="100000"/>
              <a:buChar char="•"/>
            </a:pPr>
            <a:r>
              <a:rPr lang="en-US" sz="1500" dirty="0">
                <a:solidFill>
                  <a:schemeClr val="bg1"/>
                </a:solidFill>
              </a:rPr>
              <a:t>The node speaks it as fixed text</a:t>
            </a:r>
            <a:endParaRPr lang="en-US" sz="1500" dirty="0"/>
          </a:p>
          <a:p>
            <a:pPr marL="342900" indent="-342900">
              <a:spcAft>
                <a:spcPts val="800"/>
              </a:spcAft>
              <a:buSzPct val="100000"/>
              <a:buChar char="•"/>
            </a:pPr>
            <a:r>
              <a:rPr lang="en-US" sz="1500" dirty="0">
                <a:solidFill>
                  <a:schemeClr val="bg1"/>
                </a:solidFill>
              </a:rPr>
              <a:t>Dates, amounts and attempts are counted in code</a:t>
            </a:r>
            <a:endParaRPr lang="en-US" sz="1500" dirty="0"/>
          </a:p>
          <a:p>
            <a:pPr marL="342900" indent="-342900">
              <a:spcAft>
                <a:spcPts val="800"/>
              </a:spcAft>
              <a:buSzPct val="100000"/>
              <a:buChar char="•"/>
            </a:pPr>
            <a:r>
              <a:rPr lang="en-US" sz="1500" dirty="0">
                <a:solidFill>
                  <a:schemeClr val="bg1"/>
                </a:solidFill>
              </a:rPr>
              <a:t>Before identity passes, the model knows nothing</a:t>
            </a:r>
            <a:endParaRPr lang="en-US" sz="1500" dirty="0"/>
          </a:p>
        </p:txBody>
      </p:sp>
      <p:sp>
        <p:nvSpPr>
          <p:cNvPr id="10" name="result"/>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400" i="1" dirty="0">
                <a:solidFill>
                  <a:schemeClr val="accent2"/>
                </a:solidFill>
              </a:rPr>
              <a:t>Privacy case PUB-03 after the fix: 3 of 3.</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A tested library, not free-form JSON</a:t>
            </a:r>
            <a:endParaRPr lang="en-US" sz="3400" dirty="0"/>
          </a:p>
        </p:txBody>
      </p:sp>
      <p:sp>
        <p:nvSpPr>
          <p:cNvPr id="4" name="block docs"/>
          <p:cNvSpPr/>
          <p:nvPr/>
        </p:nvSpPr>
        <p:spPr>
          <a:xfrm>
            <a:off x="548640" y="1188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block name docs"/>
          <p:cNvSpPr txBox="1"/>
          <p:nvPr/>
        </p:nvSpPr>
        <p:spPr>
          <a:xfrm>
            <a:off x="685800" y="1280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docs</a:t>
            </a:r>
            <a:endParaRPr lang="en-US" sz="1500" dirty="0"/>
          </a:p>
        </p:txBody>
      </p:sp>
      <p:sp>
        <p:nvSpPr>
          <p:cNvPr id="6" name="block text docs"/>
          <p:cNvSpPr txBox="1"/>
          <p:nvPr/>
        </p:nvSpPr>
        <p:spPr>
          <a:xfrm>
            <a:off x="685800" y="1618488"/>
            <a:ext cx="2286000" cy="530352"/>
          </a:xfrm>
          <a:prstGeom prst="rect">
            <a:avLst/>
          </a:prstGeom>
          <a:noFill/>
          <a:ln/>
        </p:spPr>
        <p:txBody>
          <a:bodyPr wrap="square" lIns="0" tIns="0" rIns="0" bIns="0" rtlCol="0" anchor="t"/>
          <a:lstStyle/>
          <a:p>
            <a:pPr indent="0" marL="0">
              <a:buNone/>
            </a:pPr>
            <a:r>
              <a:rPr lang="en-US" sz="1200" dirty="0">
                <a:solidFill>
                  <a:schemeClr val="tx1"/>
                </a:solidFill>
              </a:rPr>
              <a:t>Case folder to text: Word, Excel, PDF, images</a:t>
            </a:r>
            <a:endParaRPr lang="en-US" sz="1200" dirty="0"/>
          </a:p>
        </p:txBody>
      </p:sp>
      <p:sp>
        <p:nvSpPr>
          <p:cNvPr id="7" name="block tools"/>
          <p:cNvSpPr/>
          <p:nvPr/>
        </p:nvSpPr>
        <p:spPr>
          <a:xfrm>
            <a:off x="3291840" y="1188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8" name="block name tools"/>
          <p:cNvSpPr txBox="1"/>
          <p:nvPr/>
        </p:nvSpPr>
        <p:spPr>
          <a:xfrm>
            <a:off x="3429000" y="1280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tools</a:t>
            </a:r>
            <a:endParaRPr lang="en-US" sz="1500" dirty="0"/>
          </a:p>
        </p:txBody>
      </p:sp>
      <p:sp>
        <p:nvSpPr>
          <p:cNvPr id="9" name="block text tools"/>
          <p:cNvSpPr txBox="1"/>
          <p:nvPr/>
        </p:nvSpPr>
        <p:spPr>
          <a:xfrm>
            <a:off x="3429000" y="1618488"/>
            <a:ext cx="2286000" cy="530352"/>
          </a:xfrm>
          <a:prstGeom prst="rect">
            <a:avLst/>
          </a:prstGeom>
          <a:noFill/>
          <a:ln/>
        </p:spPr>
        <p:txBody>
          <a:bodyPr wrap="square" lIns="0" tIns="0" rIns="0" bIns="0" rtlCol="0" anchor="t"/>
          <a:lstStyle/>
          <a:p>
            <a:pPr indent="0" marL="0">
              <a:buNone/>
            </a:pPr>
            <a:r>
              <a:rPr lang="en-US" sz="1200" dirty="0">
                <a:solidFill>
                  <a:schemeClr val="tx1"/>
                </a:solidFill>
              </a:rPr>
              <a:t>Tools from any API file, Swagger 2 too</a:t>
            </a:r>
            <a:endParaRPr lang="en-US" sz="1200" dirty="0"/>
          </a:p>
        </p:txBody>
      </p:sp>
      <p:sp>
        <p:nvSpPr>
          <p:cNvPr id="10" name="block nodes + patterns"/>
          <p:cNvSpPr/>
          <p:nvPr/>
        </p:nvSpPr>
        <p:spPr>
          <a:xfrm>
            <a:off x="6035040" y="1188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1" name="block name nodes + patterns"/>
          <p:cNvSpPr txBox="1"/>
          <p:nvPr/>
        </p:nvSpPr>
        <p:spPr>
          <a:xfrm>
            <a:off x="6172200" y="1280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nodes + patterns</a:t>
            </a:r>
            <a:endParaRPr lang="en-US" sz="1500" dirty="0"/>
          </a:p>
        </p:txBody>
      </p:sp>
      <p:sp>
        <p:nvSpPr>
          <p:cNvPr id="12" name="block text nodes + patterns"/>
          <p:cNvSpPr txBox="1"/>
          <p:nvPr/>
        </p:nvSpPr>
        <p:spPr>
          <a:xfrm>
            <a:off x="6172200" y="1618488"/>
            <a:ext cx="2286000" cy="530352"/>
          </a:xfrm>
          <a:prstGeom prst="rect">
            <a:avLst/>
          </a:prstGeom>
          <a:noFill/>
          <a:ln/>
        </p:spPr>
        <p:txBody>
          <a:bodyPr wrap="square" lIns="0" tIns="0" rIns="0" bIns="0" rtlCol="0" anchor="t"/>
          <a:lstStyle/>
          <a:p>
            <a:pPr indent="0" marL="0">
              <a:buNone/>
            </a:pPr>
            <a:r>
              <a:rPr lang="en-US" sz="1200" dirty="0">
                <a:solidFill>
                  <a:schemeClr val="tx1"/>
                </a:solidFill>
              </a:rPr>
              <a:t>Node factories, identity check, negotiation, write loop</a:t>
            </a:r>
            <a:endParaRPr lang="en-US" sz="1200" dirty="0"/>
          </a:p>
        </p:txBody>
      </p:sp>
      <p:sp>
        <p:nvSpPr>
          <p:cNvPr id="13" name="block datelib"/>
          <p:cNvSpPr/>
          <p:nvPr/>
        </p:nvSpPr>
        <p:spPr>
          <a:xfrm>
            <a:off x="548640" y="2331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4" name="block name datelib"/>
          <p:cNvSpPr txBox="1"/>
          <p:nvPr/>
        </p:nvSpPr>
        <p:spPr>
          <a:xfrm>
            <a:off x="685800" y="2423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datelib</a:t>
            </a:r>
            <a:endParaRPr lang="en-US" sz="1500" dirty="0"/>
          </a:p>
        </p:txBody>
      </p:sp>
      <p:sp>
        <p:nvSpPr>
          <p:cNvPr id="15" name="block text datelib"/>
          <p:cNvSpPr txBox="1"/>
          <p:nvPr/>
        </p:nvSpPr>
        <p:spPr>
          <a:xfrm>
            <a:off x="685800" y="2761488"/>
            <a:ext cx="2286000" cy="530352"/>
          </a:xfrm>
          <a:prstGeom prst="rect">
            <a:avLst/>
          </a:prstGeom>
          <a:noFill/>
          <a:ln/>
        </p:spPr>
        <p:txBody>
          <a:bodyPr wrap="square" lIns="0" tIns="0" rIns="0" bIns="0" rtlCol="0" anchor="t"/>
          <a:lstStyle/>
          <a:p>
            <a:pPr indent="0" marL="0">
              <a:buNone/>
            </a:pPr>
            <a:r>
              <a:rPr lang="en-US" sz="1200" dirty="0">
                <a:solidFill>
                  <a:schemeClr val="tx1"/>
                </a:solidFill>
              </a:rPr>
              <a:t>Business days, holidays, deadlines</a:t>
            </a:r>
            <a:endParaRPr lang="en-US" sz="1200" dirty="0"/>
          </a:p>
        </p:txBody>
      </p:sp>
      <p:sp>
        <p:nvSpPr>
          <p:cNvPr id="16" name="block lint"/>
          <p:cNvSpPr/>
          <p:nvPr/>
        </p:nvSpPr>
        <p:spPr>
          <a:xfrm>
            <a:off x="3291840" y="2331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7" name="block name lint"/>
          <p:cNvSpPr txBox="1"/>
          <p:nvPr/>
        </p:nvSpPr>
        <p:spPr>
          <a:xfrm>
            <a:off x="3429000" y="2423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lint</a:t>
            </a:r>
            <a:endParaRPr lang="en-US" sz="1500" dirty="0"/>
          </a:p>
        </p:txBody>
      </p:sp>
      <p:sp>
        <p:nvSpPr>
          <p:cNvPr id="18" name="block text lint"/>
          <p:cNvSpPr txBox="1"/>
          <p:nvPr/>
        </p:nvSpPr>
        <p:spPr>
          <a:xfrm>
            <a:off x="3429000" y="2761488"/>
            <a:ext cx="2286000" cy="530352"/>
          </a:xfrm>
          <a:prstGeom prst="rect">
            <a:avLst/>
          </a:prstGeom>
          <a:noFill/>
          <a:ln/>
        </p:spPr>
        <p:txBody>
          <a:bodyPr wrap="square" lIns="0" tIns="0" rIns="0" bIns="0" rtlCol="0" anchor="t"/>
          <a:lstStyle/>
          <a:p>
            <a:pPr indent="0" marL="0">
              <a:buNone/>
            </a:pPr>
            <a:r>
              <a:rPr lang="en-US" sz="1200" dirty="0">
                <a:solidFill>
                  <a:schemeClr val="tx1"/>
                </a:solidFill>
              </a:rPr>
              <a:t>Static checks for the platform's silent pitfalls</a:t>
            </a:r>
            <a:endParaRPr lang="en-US" sz="1200" dirty="0"/>
          </a:p>
        </p:txBody>
      </p:sp>
      <p:sp>
        <p:nvSpPr>
          <p:cNvPr id="19" name="block check"/>
          <p:cNvSpPr/>
          <p:nvPr/>
        </p:nvSpPr>
        <p:spPr>
          <a:xfrm>
            <a:off x="6035040" y="2331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0" name="block name check"/>
          <p:cNvSpPr txBox="1"/>
          <p:nvPr/>
        </p:nvSpPr>
        <p:spPr>
          <a:xfrm>
            <a:off x="6172200" y="2423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check</a:t>
            </a:r>
            <a:endParaRPr lang="en-US" sz="1500" dirty="0"/>
          </a:p>
        </p:txBody>
      </p:sp>
      <p:sp>
        <p:nvSpPr>
          <p:cNvPr id="21" name="block text check"/>
          <p:cNvSpPr txBox="1"/>
          <p:nvPr/>
        </p:nvSpPr>
        <p:spPr>
          <a:xfrm>
            <a:off x="6172200" y="2761488"/>
            <a:ext cx="2286000" cy="530352"/>
          </a:xfrm>
          <a:prstGeom prst="rect">
            <a:avLst/>
          </a:prstGeom>
          <a:noFill/>
          <a:ln/>
        </p:spPr>
        <p:txBody>
          <a:bodyPr wrap="square" lIns="0" tIns="0" rIns="0" bIns="0" rtlCol="0" anchor="t"/>
          <a:lstStyle/>
          <a:p>
            <a:pPr indent="0" marL="0">
              <a:buNone/>
            </a:pPr>
            <a:r>
              <a:rPr lang="en-US" sz="1200" dirty="0">
                <a:solidFill>
                  <a:schemeClr val="tx1"/>
                </a:solidFill>
              </a:rPr>
              <a:t>Ledger, snippets, rule tests and a dry run</a:t>
            </a:r>
            <a:endParaRPr lang="en-US" sz="1200" dirty="0"/>
          </a:p>
        </p:txBody>
      </p:sp>
      <p:sp>
        <p:nvSpPr>
          <p:cNvPr id="22" name="block deploy"/>
          <p:cNvSpPr/>
          <p:nvPr/>
        </p:nvSpPr>
        <p:spPr>
          <a:xfrm>
            <a:off x="548640" y="3474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3" name="block name deploy"/>
          <p:cNvSpPr txBox="1"/>
          <p:nvPr/>
        </p:nvSpPr>
        <p:spPr>
          <a:xfrm>
            <a:off x="685800" y="3566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deploy</a:t>
            </a:r>
            <a:endParaRPr lang="en-US" sz="1500" dirty="0"/>
          </a:p>
        </p:txBody>
      </p:sp>
      <p:sp>
        <p:nvSpPr>
          <p:cNvPr id="24" name="block text deploy"/>
          <p:cNvSpPr txBox="1"/>
          <p:nvPr/>
        </p:nvSpPr>
        <p:spPr>
          <a:xfrm>
            <a:off x="685800" y="3904488"/>
            <a:ext cx="2286000" cy="530352"/>
          </a:xfrm>
          <a:prstGeom prst="rect">
            <a:avLst/>
          </a:prstGeom>
          <a:noFill/>
          <a:ln/>
        </p:spPr>
        <p:txBody>
          <a:bodyPr wrap="square" lIns="0" tIns="0" rIns="0" bIns="0" rtlCol="0" anchor="t"/>
          <a:lstStyle/>
          <a:p>
            <a:pPr indent="0" marL="0">
              <a:buNone/>
            </a:pPr>
            <a:r>
              <a:rPr lang="en-US" sz="1200" dirty="0">
                <a:solidFill>
                  <a:schemeClr val="tx1"/>
                </a:solidFill>
              </a:rPr>
              <a:t>The only way to reach Freya, behind the gate</a:t>
            </a:r>
            <a:endParaRPr lang="en-US" sz="1200" dirty="0"/>
          </a:p>
        </p:txBody>
      </p:sp>
      <p:sp>
        <p:nvSpPr>
          <p:cNvPr id="25" name="block smoke"/>
          <p:cNvSpPr/>
          <p:nvPr/>
        </p:nvSpPr>
        <p:spPr>
          <a:xfrm>
            <a:off x="3291840" y="3474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6" name="block name smoke"/>
          <p:cNvSpPr txBox="1"/>
          <p:nvPr/>
        </p:nvSpPr>
        <p:spPr>
          <a:xfrm>
            <a:off x="3429000" y="3566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smoke</a:t>
            </a:r>
            <a:endParaRPr lang="en-US" sz="1500" dirty="0"/>
          </a:p>
        </p:txBody>
      </p:sp>
      <p:sp>
        <p:nvSpPr>
          <p:cNvPr id="27" name="block text smoke"/>
          <p:cNvSpPr txBox="1"/>
          <p:nvPr/>
        </p:nvSpPr>
        <p:spPr>
          <a:xfrm>
            <a:off x="3429000" y="3904488"/>
            <a:ext cx="2286000" cy="530352"/>
          </a:xfrm>
          <a:prstGeom prst="rect">
            <a:avLst/>
          </a:prstGeom>
          <a:noFill/>
          <a:ln/>
        </p:spPr>
        <p:txBody>
          <a:bodyPr wrap="square" lIns="0" tIns="0" rIns="0" bIns="0" rtlCol="0" anchor="t"/>
          <a:lstStyle/>
          <a:p>
            <a:pPr indent="0" marL="0">
              <a:buNone/>
            </a:pPr>
            <a:r>
              <a:rPr lang="en-US" sz="1200" dirty="0">
                <a:solidFill>
                  <a:schemeClr val="tx1"/>
                </a:solidFill>
              </a:rPr>
              <a:t>Scripted chats against the deployed workflow</a:t>
            </a:r>
            <a:endParaRPr lang="en-US" sz="1200" dirty="0"/>
          </a:p>
        </p:txBody>
      </p:sp>
      <p:sp>
        <p:nvSpPr>
          <p:cNvPr id="28" name="block reviewer"/>
          <p:cNvSpPr/>
          <p:nvPr/>
        </p:nvSpPr>
        <p:spPr>
          <a:xfrm>
            <a:off x="6035040" y="3474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9" name="block name reviewer"/>
          <p:cNvSpPr txBox="1"/>
          <p:nvPr/>
        </p:nvSpPr>
        <p:spPr>
          <a:xfrm>
            <a:off x="6172200" y="3566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reviewer</a:t>
            </a:r>
            <a:endParaRPr lang="en-US" sz="1500" dirty="0"/>
          </a:p>
        </p:txBody>
      </p:sp>
      <p:sp>
        <p:nvSpPr>
          <p:cNvPr id="30" name="block text reviewer"/>
          <p:cNvSpPr txBox="1"/>
          <p:nvPr/>
        </p:nvSpPr>
        <p:spPr>
          <a:xfrm>
            <a:off x="6172200" y="3904488"/>
            <a:ext cx="2286000" cy="530352"/>
          </a:xfrm>
          <a:prstGeom prst="rect">
            <a:avLst/>
          </a:prstGeom>
          <a:noFill/>
          <a:ln/>
        </p:spPr>
        <p:txBody>
          <a:bodyPr wrap="square" lIns="0" tIns="0" rIns="0" bIns="0" rtlCol="0" anchor="t"/>
          <a:lstStyle/>
          <a:p>
            <a:pPr indent="0" marL="0">
              <a:buNone/>
            </a:pPr>
            <a:r>
              <a:rPr lang="en-US" sz="1200" dirty="0">
                <a:solidFill>
                  <a:schemeClr val="tx1"/>
                </a:solidFill>
              </a:rPr>
              <a:t>A separate agent that did not build it</a:t>
            </a:r>
            <a:endParaRPr lang="en-US" sz="1200" dirty="0"/>
          </a:p>
        </p:txBody>
      </p:sp>
      <p:sp>
        <p:nvSpPr>
          <p:cNvPr id="31" name="lib stat"/>
          <p:cNvSpPr txBox="1"/>
          <p:nvPr/>
        </p:nvSpPr>
        <p:spPr>
          <a:xfrm>
            <a:off x="548640" y="4617720"/>
            <a:ext cx="7680960" cy="274320"/>
          </a:xfrm>
          <a:prstGeom prst="rect">
            <a:avLst/>
          </a:prstGeom>
          <a:noFill/>
          <a:ln/>
        </p:spPr>
        <p:txBody>
          <a:bodyPr wrap="square" lIns="0" tIns="0" rIns="0" bIns="0" rtlCol="0" anchor="ctr"/>
          <a:lstStyle/>
          <a:p>
            <a:pPr indent="0" marL="0">
              <a:buNone/>
            </a:pPr>
            <a:r>
              <a:rPr lang="en-US" sz="1200" dirty="0">
                <a:solidFill>
                  <a:schemeClr val="accent4"/>
                </a:solidFill>
              </a:rPr>
              <a:t>About 1,400 lines | 146 tests</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Guard rails around the model</a:t>
            </a:r>
            <a:endParaRPr lang="en-US" sz="3400" dirty="0"/>
          </a:p>
        </p:txBody>
      </p:sp>
      <p:sp>
        <p:nvSpPr>
          <p:cNvPr id="4" name="rail Gate"/>
          <p:cNvSpPr/>
          <p:nvPr/>
        </p:nvSpPr>
        <p:spPr>
          <a:xfrm>
            <a:off x="548640" y="1188720"/>
            <a:ext cx="8046720" cy="594360"/>
          </a:xfrm>
          <a:prstGeom prst="roundRect">
            <a:avLst>
              <a:gd name="adj" fmla="val 1230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rail name Gate"/>
          <p:cNvSpPr txBox="1"/>
          <p:nvPr/>
        </p:nvSpPr>
        <p:spPr>
          <a:xfrm>
            <a:off x="731520" y="1188720"/>
            <a:ext cx="1737360" cy="594360"/>
          </a:xfrm>
          <a:prstGeom prst="rect">
            <a:avLst/>
          </a:prstGeom>
          <a:noFill/>
          <a:ln/>
        </p:spPr>
        <p:txBody>
          <a:bodyPr wrap="square" lIns="0" tIns="0" rIns="0" bIns="0" rtlCol="0" anchor="ctr"/>
          <a:lstStyle/>
          <a:p>
            <a:pPr indent="0" marL="0">
              <a:buNone/>
            </a:pPr>
            <a:r>
              <a:rPr lang="en-US" sz="1600" b="1" dirty="0">
                <a:solidFill>
                  <a:schemeClr val="accent3"/>
                </a:solidFill>
              </a:rPr>
              <a:t>Gate</a:t>
            </a:r>
            <a:endParaRPr lang="en-US" sz="1600" dirty="0"/>
          </a:p>
        </p:txBody>
      </p:sp>
      <p:sp>
        <p:nvSpPr>
          <p:cNvPr id="6" name="rail text Gate"/>
          <p:cNvSpPr txBox="1"/>
          <p:nvPr/>
        </p:nvSpPr>
        <p:spPr>
          <a:xfrm>
            <a:off x="2514600" y="1188720"/>
            <a:ext cx="5943600" cy="594360"/>
          </a:xfrm>
          <a:prstGeom prst="rect">
            <a:avLst/>
          </a:prstGeom>
          <a:noFill/>
          <a:ln/>
        </p:spPr>
        <p:txBody>
          <a:bodyPr wrap="square" lIns="0" tIns="0" rIns="0" bIns="0" rtlCol="0" anchor="ctr"/>
          <a:lstStyle/>
          <a:p>
            <a:pPr indent="0" marL="0">
              <a:buNone/>
            </a:pPr>
            <a:r>
              <a:rPr lang="en-US" sz="1300" dirty="0">
                <a:solidFill>
                  <a:schemeClr val="tx1"/>
                </a:solidFill>
              </a:rPr>
              <a:t>Nothing reaches Freya unless every check passes. A failed build keeps the last deployed version.</a:t>
            </a:r>
            <a:endParaRPr lang="en-US" sz="1300" dirty="0"/>
          </a:p>
        </p:txBody>
      </p:sp>
      <p:sp>
        <p:nvSpPr>
          <p:cNvPr id="7" name="rail Brief is data"/>
          <p:cNvSpPr/>
          <p:nvPr/>
        </p:nvSpPr>
        <p:spPr>
          <a:xfrm>
            <a:off x="548640" y="1874520"/>
            <a:ext cx="8046720" cy="594360"/>
          </a:xfrm>
          <a:prstGeom prst="roundRect">
            <a:avLst>
              <a:gd name="adj" fmla="val 1230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8" name="rail name Brief is data"/>
          <p:cNvSpPr txBox="1"/>
          <p:nvPr/>
        </p:nvSpPr>
        <p:spPr>
          <a:xfrm>
            <a:off x="731520" y="1874520"/>
            <a:ext cx="1737360" cy="594360"/>
          </a:xfrm>
          <a:prstGeom prst="rect">
            <a:avLst/>
          </a:prstGeom>
          <a:noFill/>
          <a:ln/>
        </p:spPr>
        <p:txBody>
          <a:bodyPr wrap="square" lIns="0" tIns="0" rIns="0" bIns="0" rtlCol="0" anchor="ctr"/>
          <a:lstStyle/>
          <a:p>
            <a:pPr indent="0" marL="0">
              <a:buNone/>
            </a:pPr>
            <a:r>
              <a:rPr lang="en-US" sz="1600" b="1" dirty="0">
                <a:solidFill>
                  <a:schemeClr val="accent3"/>
                </a:solidFill>
              </a:rPr>
              <a:t>Brief is data</a:t>
            </a:r>
            <a:endParaRPr lang="en-US" sz="1600" dirty="0"/>
          </a:p>
        </p:txBody>
      </p:sp>
      <p:sp>
        <p:nvSpPr>
          <p:cNvPr id="9" name="rail text Brief is data"/>
          <p:cNvSpPr txBox="1"/>
          <p:nvPr/>
        </p:nvSpPr>
        <p:spPr>
          <a:xfrm>
            <a:off x="2514600" y="1874520"/>
            <a:ext cx="5943600" cy="594360"/>
          </a:xfrm>
          <a:prstGeom prst="rect">
            <a:avLst/>
          </a:prstGeom>
          <a:noFill/>
          <a:ln/>
        </p:spPr>
        <p:txBody>
          <a:bodyPr wrap="square" lIns="0" tIns="0" rIns="0" bIns="0" rtlCol="0" anchor="ctr"/>
          <a:lstStyle/>
          <a:p>
            <a:pPr indent="0" marL="0">
              <a:buNone/>
            </a:pPr>
            <a:r>
              <a:rPr lang="en-US" sz="1300" dirty="0">
                <a:solidFill>
                  <a:schemeClr val="tx1"/>
                </a:solidFill>
              </a:rPr>
              <a:t>Text in a brief that addresses the builder is a rule for the phone agent, or nothing.</a:t>
            </a:r>
            <a:endParaRPr lang="en-US" sz="1300" dirty="0"/>
          </a:p>
        </p:txBody>
      </p:sp>
      <p:sp>
        <p:nvSpPr>
          <p:cNvPr id="10" name="rail No memorizing"/>
          <p:cNvSpPr/>
          <p:nvPr/>
        </p:nvSpPr>
        <p:spPr>
          <a:xfrm>
            <a:off x="548640" y="2560320"/>
            <a:ext cx="8046720" cy="594360"/>
          </a:xfrm>
          <a:prstGeom prst="roundRect">
            <a:avLst>
              <a:gd name="adj" fmla="val 1230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1" name="rail name No memorizing"/>
          <p:cNvSpPr txBox="1"/>
          <p:nvPr/>
        </p:nvSpPr>
        <p:spPr>
          <a:xfrm>
            <a:off x="731520" y="2560320"/>
            <a:ext cx="1737360" cy="594360"/>
          </a:xfrm>
          <a:prstGeom prst="rect">
            <a:avLst/>
          </a:prstGeom>
          <a:noFill/>
          <a:ln/>
        </p:spPr>
        <p:txBody>
          <a:bodyPr wrap="square" lIns="0" tIns="0" rIns="0" bIns="0" rtlCol="0" anchor="ctr"/>
          <a:lstStyle/>
          <a:p>
            <a:pPr indent="0" marL="0">
              <a:buNone/>
            </a:pPr>
            <a:r>
              <a:rPr lang="en-US" sz="1600" b="1" dirty="0">
                <a:solidFill>
                  <a:schemeClr val="accent3"/>
                </a:solidFill>
              </a:rPr>
              <a:t>No memorizing</a:t>
            </a:r>
            <a:endParaRPr lang="en-US" sz="1600" dirty="0"/>
          </a:p>
        </p:txBody>
      </p:sp>
      <p:sp>
        <p:nvSpPr>
          <p:cNvPr id="12" name="rail text No memorizing"/>
          <p:cNvSpPr txBox="1"/>
          <p:nvPr/>
        </p:nvSpPr>
        <p:spPr>
          <a:xfrm>
            <a:off x="2514600" y="2560320"/>
            <a:ext cx="5943600" cy="594360"/>
          </a:xfrm>
          <a:prstGeom prst="rect">
            <a:avLst/>
          </a:prstGeom>
          <a:noFill/>
          <a:ln/>
        </p:spPr>
        <p:txBody>
          <a:bodyPr wrap="square" lIns="0" tIns="0" rIns="0" bIns="0" rtlCol="0" anchor="ctr"/>
          <a:lstStyle/>
          <a:p>
            <a:pPr indent="0" marL="0">
              <a:buNone/>
            </a:pPr>
            <a:r>
              <a:rPr lang="en-US" sz="1300" dirty="0">
                <a:solidFill>
                  <a:schemeClr val="tx1"/>
                </a:solidFill>
              </a:rPr>
              <a:t>A contamination check scans builder/ for any value from a brief. Result: 0 leaks.</a:t>
            </a:r>
            <a:endParaRPr lang="en-US" sz="1300" dirty="0"/>
          </a:p>
        </p:txBody>
      </p:sp>
      <p:sp>
        <p:nvSpPr>
          <p:cNvPr id="13" name="rail Clock"/>
          <p:cNvSpPr/>
          <p:nvPr/>
        </p:nvSpPr>
        <p:spPr>
          <a:xfrm>
            <a:off x="548640" y="3246120"/>
            <a:ext cx="8046720" cy="594360"/>
          </a:xfrm>
          <a:prstGeom prst="roundRect">
            <a:avLst>
              <a:gd name="adj" fmla="val 1230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4" name="rail name Clock"/>
          <p:cNvSpPr txBox="1"/>
          <p:nvPr/>
        </p:nvSpPr>
        <p:spPr>
          <a:xfrm>
            <a:off x="731520" y="3246120"/>
            <a:ext cx="1737360" cy="594360"/>
          </a:xfrm>
          <a:prstGeom prst="rect">
            <a:avLst/>
          </a:prstGeom>
          <a:noFill/>
          <a:ln/>
        </p:spPr>
        <p:txBody>
          <a:bodyPr wrap="square" lIns="0" tIns="0" rIns="0" bIns="0" rtlCol="0" anchor="ctr"/>
          <a:lstStyle/>
          <a:p>
            <a:pPr indent="0" marL="0">
              <a:buNone/>
            </a:pPr>
            <a:r>
              <a:rPr lang="en-US" sz="1600" b="1" dirty="0">
                <a:solidFill>
                  <a:schemeClr val="accent3"/>
                </a:solidFill>
              </a:rPr>
              <a:t>Clock</a:t>
            </a:r>
            <a:endParaRPr lang="en-US" sz="1600" dirty="0"/>
          </a:p>
        </p:txBody>
      </p:sp>
      <p:sp>
        <p:nvSpPr>
          <p:cNvPr id="15" name="rail text Clock"/>
          <p:cNvSpPr txBox="1"/>
          <p:nvPr/>
        </p:nvSpPr>
        <p:spPr>
          <a:xfrm>
            <a:off x="2514600" y="3246120"/>
            <a:ext cx="5943600" cy="594360"/>
          </a:xfrm>
          <a:prstGeom prst="rect">
            <a:avLst/>
          </a:prstGeom>
          <a:noFill/>
          <a:ln/>
        </p:spPr>
        <p:txBody>
          <a:bodyPr wrap="square" lIns="0" tIns="0" rIns="0" bIns="0" rtlCol="0" anchor="ctr"/>
          <a:lstStyle/>
          <a:p>
            <a:pPr indent="0" marL="0">
              <a:buNone/>
            </a:pPr>
            <a:r>
              <a:rPr lang="en-US" sz="1300" dirty="0">
                <a:solidFill>
                  <a:schemeClr val="tx1"/>
                </a:solidFill>
              </a:rPr>
              <a:t>Watchdog at 25 minutes. If there is no time for a gate and a deploy, the last good version stays.</a:t>
            </a:r>
            <a:endParaRPr lang="en-US" sz="1300" dirty="0"/>
          </a:p>
        </p:txBody>
      </p:sp>
      <p:sp>
        <p:nvSpPr>
          <p:cNvPr id="16" name="rail Secrets"/>
          <p:cNvSpPr/>
          <p:nvPr/>
        </p:nvSpPr>
        <p:spPr>
          <a:xfrm>
            <a:off x="548640" y="3931920"/>
            <a:ext cx="8046720" cy="594360"/>
          </a:xfrm>
          <a:prstGeom prst="roundRect">
            <a:avLst>
              <a:gd name="adj" fmla="val 1230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7" name="rail name Secrets"/>
          <p:cNvSpPr txBox="1"/>
          <p:nvPr/>
        </p:nvSpPr>
        <p:spPr>
          <a:xfrm>
            <a:off x="731520" y="3931920"/>
            <a:ext cx="1737360" cy="594360"/>
          </a:xfrm>
          <a:prstGeom prst="rect">
            <a:avLst/>
          </a:prstGeom>
          <a:noFill/>
          <a:ln/>
        </p:spPr>
        <p:txBody>
          <a:bodyPr wrap="square" lIns="0" tIns="0" rIns="0" bIns="0" rtlCol="0" anchor="ctr"/>
          <a:lstStyle/>
          <a:p>
            <a:pPr indent="0" marL="0">
              <a:buNone/>
            </a:pPr>
            <a:r>
              <a:rPr lang="en-US" sz="1600" b="1" dirty="0">
                <a:solidFill>
                  <a:schemeClr val="accent3"/>
                </a:solidFill>
              </a:rPr>
              <a:t>Secrets</a:t>
            </a:r>
            <a:endParaRPr lang="en-US" sz="1600" dirty="0"/>
          </a:p>
        </p:txBody>
      </p:sp>
      <p:sp>
        <p:nvSpPr>
          <p:cNvPr id="18" name="rail text Secrets"/>
          <p:cNvSpPr txBox="1"/>
          <p:nvPr/>
        </p:nvSpPr>
        <p:spPr>
          <a:xfrm>
            <a:off x="2514600" y="3931920"/>
            <a:ext cx="5943600" cy="594360"/>
          </a:xfrm>
          <a:prstGeom prst="rect">
            <a:avLst/>
          </a:prstGeom>
          <a:noFill/>
          <a:ln/>
        </p:spPr>
        <p:txBody>
          <a:bodyPr wrap="square" lIns="0" tIns="0" rIns="0" bIns="0" rtlCol="0" anchor="ctr"/>
          <a:lstStyle/>
          <a:p>
            <a:pPr indent="0" marL="0">
              <a:buNone/>
            </a:pPr>
            <a:r>
              <a:rPr lang="en-US" sz="1300" dirty="0">
                <a:solidFill>
                  <a:schemeClr val="tx1"/>
                </a:solidFill>
              </a:rPr>
              <a:t>API keys and tokens are redacted from the trace and the raw log.</a:t>
            </a:r>
            <a:endParaRPr lang="en-US" sz="13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How we measured it</a:t>
            </a:r>
            <a:endParaRPr lang="en-US" sz="3400" dirty="0"/>
          </a:p>
        </p:txBody>
      </p:sp>
      <p:sp>
        <p:nvSpPr>
          <p:cNvPr id="4" name="stat 9/10"/>
          <p:cNvSpPr txBox="1"/>
          <p:nvPr/>
        </p:nvSpPr>
        <p:spPr>
          <a:xfrm>
            <a:off x="548640" y="1143000"/>
            <a:ext cx="1828800" cy="777240"/>
          </a:xfrm>
          <a:prstGeom prst="rect">
            <a:avLst/>
          </a:prstGeom>
          <a:noFill/>
          <a:ln/>
        </p:spPr>
        <p:txBody>
          <a:bodyPr wrap="square" lIns="0" tIns="0" rIns="0" bIns="0" rtlCol="0" anchor="ctr"/>
          <a:lstStyle/>
          <a:p>
            <a:pPr algn="l" indent="0" marL="0">
              <a:buNone/>
            </a:pPr>
            <a:r>
              <a:rPr lang="en-US" sz="4800" b="1" dirty="0">
                <a:solidFill>
                  <a:schemeClr val="accent2"/>
                </a:solidFill>
              </a:rPr>
              <a:t>9/10</a:t>
            </a:r>
            <a:endParaRPr lang="en-US" sz="4800" dirty="0"/>
          </a:p>
        </p:txBody>
      </p:sp>
      <p:sp>
        <p:nvSpPr>
          <p:cNvPr id="5" name="label 9/10"/>
          <p:cNvSpPr txBox="1"/>
          <p:nvPr/>
        </p:nvSpPr>
        <p:spPr>
          <a:xfrm>
            <a:off x="548640" y="1920240"/>
            <a:ext cx="1828800" cy="640080"/>
          </a:xfrm>
          <a:prstGeom prst="rect">
            <a:avLst/>
          </a:prstGeom>
          <a:noFill/>
          <a:ln/>
        </p:spPr>
        <p:txBody>
          <a:bodyPr wrap="square" lIns="0" tIns="0" rIns="0" bIns="0" rtlCol="0" anchor="t"/>
          <a:lstStyle/>
          <a:p>
            <a:pPr algn="l" indent="0" marL="0">
              <a:buNone/>
            </a:pPr>
            <a:r>
              <a:rPr lang="en-US" sz="1400" dirty="0">
                <a:solidFill>
                  <a:schemeClr val="tx1"/>
                </a:solidFill>
              </a:rPr>
              <a:t>Brief A, plain customers</a:t>
            </a:r>
            <a:endParaRPr lang="en-US" sz="1400" dirty="0"/>
          </a:p>
        </p:txBody>
      </p:sp>
      <p:sp>
        <p:nvSpPr>
          <p:cNvPr id="6" name="stat 9/10"/>
          <p:cNvSpPr txBox="1"/>
          <p:nvPr/>
        </p:nvSpPr>
        <p:spPr>
          <a:xfrm>
            <a:off x="2560320" y="1143000"/>
            <a:ext cx="1828800" cy="777240"/>
          </a:xfrm>
          <a:prstGeom prst="rect">
            <a:avLst/>
          </a:prstGeom>
          <a:noFill/>
          <a:ln/>
        </p:spPr>
        <p:txBody>
          <a:bodyPr wrap="square" lIns="0" tIns="0" rIns="0" bIns="0" rtlCol="0" anchor="ctr"/>
          <a:lstStyle/>
          <a:p>
            <a:pPr algn="l" indent="0" marL="0">
              <a:buNone/>
            </a:pPr>
            <a:r>
              <a:rPr lang="en-US" sz="4800" b="1" dirty="0">
                <a:solidFill>
                  <a:schemeClr val="accent2"/>
                </a:solidFill>
              </a:rPr>
              <a:t>9/10</a:t>
            </a:r>
            <a:endParaRPr lang="en-US" sz="4800" dirty="0"/>
          </a:p>
        </p:txBody>
      </p:sp>
      <p:sp>
        <p:nvSpPr>
          <p:cNvPr id="7" name="label 9/10"/>
          <p:cNvSpPr txBox="1"/>
          <p:nvPr/>
        </p:nvSpPr>
        <p:spPr>
          <a:xfrm>
            <a:off x="2560320" y="1920240"/>
            <a:ext cx="1828800" cy="640080"/>
          </a:xfrm>
          <a:prstGeom prst="rect">
            <a:avLst/>
          </a:prstGeom>
          <a:noFill/>
          <a:ln/>
        </p:spPr>
        <p:txBody>
          <a:bodyPr wrap="square" lIns="0" tIns="0" rIns="0" bIns="0" rtlCol="0" anchor="t"/>
          <a:lstStyle/>
          <a:p>
            <a:pPr algn="l" indent="0" marL="0">
              <a:buNone/>
            </a:pPr>
            <a:r>
              <a:rPr lang="en-US" sz="1400" dirty="0">
                <a:solidFill>
                  <a:schemeClr val="tx1"/>
                </a:solidFill>
              </a:rPr>
              <a:t>Brief A, talkative customers</a:t>
            </a:r>
            <a:endParaRPr lang="en-US" sz="1400" dirty="0"/>
          </a:p>
        </p:txBody>
      </p:sp>
      <p:sp>
        <p:nvSpPr>
          <p:cNvPr id="8" name="stat 2/3"/>
          <p:cNvSpPr txBox="1"/>
          <p:nvPr/>
        </p:nvSpPr>
        <p:spPr>
          <a:xfrm>
            <a:off x="4572000" y="1143000"/>
            <a:ext cx="1828800" cy="777240"/>
          </a:xfrm>
          <a:prstGeom prst="rect">
            <a:avLst/>
          </a:prstGeom>
          <a:noFill/>
          <a:ln/>
        </p:spPr>
        <p:txBody>
          <a:bodyPr wrap="square" lIns="0" tIns="0" rIns="0" bIns="0" rtlCol="0" anchor="ctr"/>
          <a:lstStyle/>
          <a:p>
            <a:pPr algn="l" indent="0" marL="0">
              <a:buNone/>
            </a:pPr>
            <a:r>
              <a:rPr lang="en-US" sz="4800" b="1" dirty="0">
                <a:solidFill>
                  <a:schemeClr val="accent2"/>
                </a:solidFill>
              </a:rPr>
              <a:t>2/3</a:t>
            </a:r>
            <a:endParaRPr lang="en-US" sz="4800" dirty="0"/>
          </a:p>
        </p:txBody>
      </p:sp>
      <p:sp>
        <p:nvSpPr>
          <p:cNvPr id="9" name="label 2/3"/>
          <p:cNvSpPr txBox="1"/>
          <p:nvPr/>
        </p:nvSpPr>
        <p:spPr>
          <a:xfrm>
            <a:off x="4572000" y="1920240"/>
            <a:ext cx="1828800" cy="640080"/>
          </a:xfrm>
          <a:prstGeom prst="rect">
            <a:avLst/>
          </a:prstGeom>
          <a:noFill/>
          <a:ln/>
        </p:spPr>
        <p:txBody>
          <a:bodyPr wrap="square" lIns="0" tIns="0" rIns="0" bIns="0" rtlCol="0" anchor="t"/>
          <a:lstStyle/>
          <a:p>
            <a:pPr algn="l" indent="0" marL="0">
              <a:buNone/>
            </a:pPr>
            <a:r>
              <a:rPr lang="en-US" sz="1400" dirty="0">
                <a:solidFill>
                  <a:schemeClr val="tx1"/>
                </a:solidFill>
              </a:rPr>
              <a:t>Brief B, held out (best)</a:t>
            </a:r>
            <a:endParaRPr lang="en-US" sz="1400" dirty="0"/>
          </a:p>
        </p:txBody>
      </p:sp>
      <p:sp>
        <p:nvSpPr>
          <p:cNvPr id="10" name="stat 0"/>
          <p:cNvSpPr txBox="1"/>
          <p:nvPr/>
        </p:nvSpPr>
        <p:spPr>
          <a:xfrm>
            <a:off x="6583680" y="1143000"/>
            <a:ext cx="2011680" cy="777240"/>
          </a:xfrm>
          <a:prstGeom prst="rect">
            <a:avLst/>
          </a:prstGeom>
          <a:noFill/>
          <a:ln/>
        </p:spPr>
        <p:txBody>
          <a:bodyPr wrap="square" lIns="0" tIns="0" rIns="0" bIns="0" rtlCol="0" anchor="ctr"/>
          <a:lstStyle/>
          <a:p>
            <a:pPr algn="l" indent="0" marL="0">
              <a:buNone/>
            </a:pPr>
            <a:r>
              <a:rPr lang="en-US" sz="4800" b="1" dirty="0">
                <a:solidFill>
                  <a:schemeClr val="accent2"/>
                </a:solidFill>
              </a:rPr>
              <a:t>0</a:t>
            </a:r>
            <a:endParaRPr lang="en-US" sz="4800" dirty="0"/>
          </a:p>
        </p:txBody>
      </p:sp>
      <p:sp>
        <p:nvSpPr>
          <p:cNvPr id="11" name="label 0"/>
          <p:cNvSpPr txBox="1"/>
          <p:nvPr/>
        </p:nvSpPr>
        <p:spPr>
          <a:xfrm>
            <a:off x="6583680" y="1920240"/>
            <a:ext cx="2011680" cy="640080"/>
          </a:xfrm>
          <a:prstGeom prst="rect">
            <a:avLst/>
          </a:prstGeom>
          <a:noFill/>
          <a:ln/>
        </p:spPr>
        <p:txBody>
          <a:bodyPr wrap="square" lIns="0" tIns="0" rIns="0" bIns="0" rtlCol="0" anchor="t"/>
          <a:lstStyle/>
          <a:p>
            <a:pPr algn="l" indent="0" marL="0">
              <a:buNone/>
            </a:pPr>
            <a:r>
              <a:rPr lang="en-US" sz="1400" dirty="0">
                <a:solidFill>
                  <a:schemeClr val="tx1"/>
                </a:solidFill>
              </a:rPr>
              <a:t>leaks from a brief into the builder</a:t>
            </a:r>
            <a:endParaRPr lang="en-US" sz="1400" dirty="0"/>
          </a:p>
        </p:txBody>
      </p:sp>
      <p:graphicFrame>
        <p:nvGraphicFramePr>
          <p:cNvPr id="8" name="results table"/>
          <p:cNvGraphicFramePr>
            <a:graphicFrameLocks noGrp="1"/>
          </p:cNvGraphicFramePr>
          <p:nvPr>
            <p:extLst>
              <p:ext uri="{D42A27DB-BD31-4B8C-83A1-F6EECF244321}">
                <p14:modId xmlns:p14="http://schemas.microsoft.com/office/powerpoint/2010/main" val="1579011935"/>
              </p:ext>
            </p:extLst>
          </p:nvPr>
        </p:nvGraphicFramePr>
        <p:xfrm>
          <a:off x="548640" y="2926080"/>
          <a:ext cx="8046720" cy="914400"/>
        </p:xfrm>
        <a:graphic>
          <a:graphicData uri="http://schemas.openxmlformats.org/drawingml/2006/table">
            <a:tbl>
              <a:tblPr/>
              <a:tblGrid>
                <a:gridCol w="4023360"/>
                <a:gridCol w="2011680"/>
                <a:gridCol w="2011680"/>
              </a:tblGrid>
              <a:tr h="274320">
                <a:tc>
                  <a:txBody>
                    <a:bodyPr/>
                    <a:lstStyle/>
                    <a:p>
                      <a:pPr indent="0" marL="0">
                        <a:buNone/>
                      </a:pP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Brief A</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Brief B</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tx2"/>
                    </a:solidFill>
                  </a:tcPr>
                </a:tc>
              </a:tr>
              <a:tr h="274320">
                <a:tc>
                  <a:txBody>
                    <a:bodyPr/>
                    <a:lstStyle/>
                    <a:p>
                      <a:pPr indent="0" marL="0">
                        <a:buNone/>
                      </a:pPr>
                      <a:r>
                        <a:rPr lang="en-US" sz="1300" dirty="0">
                          <a:solidFill>
                            <a:schemeClr val="tx1"/>
                          </a:solidFill>
                        </a:rPr>
                        <a:t>Example builder, 1 run</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10/10</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3/3</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Example builder, 3 reps</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8/10</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n/a</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Example builder, real speech styles</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6-9/10</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1-2/3</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Our builder, final rehearsals</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8-9/10</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0-2/3</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r>
            </a:tbl>
          </a:graphicData>
        </a:graphic>
      </p:graphicFrame>
      <p:sp>
        <p:nvSpPr>
          <p:cNvPr id="13" name="caveat"/>
          <p:cNvSpPr txBox="1"/>
          <p:nvPr/>
        </p:nvSpPr>
        <p:spPr>
          <a:xfrm>
            <a:off x="548640" y="4434840"/>
            <a:ext cx="8046720" cy="457200"/>
          </a:xfrm>
          <a:prstGeom prst="rect">
            <a:avLst/>
          </a:prstGeom>
          <a:noFill/>
          <a:ln/>
        </p:spPr>
        <p:txBody>
          <a:bodyPr wrap="square" lIns="0" tIns="0" rIns="0" bIns="0" rtlCol="0" anchor="ctr"/>
          <a:lstStyle/>
          <a:p>
            <a:pPr indent="0" marL="0">
              <a:buNone/>
            </a:pPr>
            <a:r>
              <a:rPr lang="en-US" sz="1100" i="1" dirty="0">
                <a:solidFill>
                  <a:schemeClr val="accent4"/>
                </a:solidFill>
              </a:rPr>
              <a:t>Single runs per case, official scorer. Our practice memos change rules: the failures we traced were test mismatches, not agent defects.</a:t>
            </a:r>
            <a:endParaRPr lang="en-US" sz="11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What the failures taught us</a:t>
            </a:r>
            <a:endParaRPr lang="en-US" sz="3400" dirty="0"/>
          </a:p>
        </p:txBody>
      </p:sp>
      <p:sp>
        <p:nvSpPr>
          <p:cNvPr id="4" name="lessons left"/>
          <p:cNvSpPr/>
          <p:nvPr/>
        </p:nvSpPr>
        <p:spPr>
          <a:xfrm>
            <a:off x="548640" y="1188720"/>
            <a:ext cx="3931920" cy="3337560"/>
          </a:xfrm>
          <a:prstGeom prst="roundRect">
            <a:avLst>
              <a:gd name="adj" fmla="val 2192"/>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lessons right"/>
          <p:cNvSpPr/>
          <p:nvPr/>
        </p:nvSpPr>
        <p:spPr>
          <a:xfrm>
            <a:off x="4663440" y="1188720"/>
            <a:ext cx="3931920" cy="3337560"/>
          </a:xfrm>
          <a:prstGeom prst="roundRect">
            <a:avLst>
              <a:gd name="adj" fmla="val 2192"/>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6" name="learned head"/>
          <p:cNvSpPr txBox="1"/>
          <p:nvPr/>
        </p:nvSpPr>
        <p:spPr>
          <a:xfrm>
            <a:off x="777240" y="1325880"/>
            <a:ext cx="3474720" cy="365760"/>
          </a:xfrm>
          <a:prstGeom prst="rect">
            <a:avLst/>
          </a:prstGeom>
          <a:noFill/>
          <a:ln/>
        </p:spPr>
        <p:txBody>
          <a:bodyPr wrap="square" lIns="0" tIns="0" rIns="0" bIns="0" rtlCol="0" anchor="ctr"/>
          <a:lstStyle/>
          <a:p>
            <a:pPr indent="0" marL="0">
              <a:buNone/>
            </a:pPr>
            <a:r>
              <a:rPr lang="en-US" sz="1800" b="1" dirty="0">
                <a:solidFill>
                  <a:schemeClr val="accent2"/>
                </a:solidFill>
              </a:rPr>
              <a:t>What we learned</a:t>
            </a:r>
            <a:endParaRPr lang="en-US" sz="1800" dirty="0"/>
          </a:p>
        </p:txBody>
      </p:sp>
      <p:sp>
        <p:nvSpPr>
          <p:cNvPr id="7" name="learned body"/>
          <p:cNvSpPr txBox="1"/>
          <p:nvPr/>
        </p:nvSpPr>
        <p:spPr>
          <a:xfrm>
            <a:off x="777240" y="1783080"/>
            <a:ext cx="3474720" cy="26517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Read the transcript before any fix: 9 of 11 failures in one session were not agent defects</a:t>
            </a:r>
            <a:endParaRPr lang="en-US" sz="1600" dirty="0"/>
          </a:p>
          <a:p>
            <a:pPr marL="342900" indent="-342900">
              <a:spcAft>
                <a:spcPts val="1000"/>
              </a:spcAft>
              <a:buSzPct val="100000"/>
              <a:buChar char="•"/>
            </a:pPr>
            <a:r>
              <a:rPr lang="en-US" sz="1600" dirty="0">
                <a:solidFill>
                  <a:schemeClr val="tx1"/>
                </a:solidFill>
              </a:rPr>
              <a:t>Our practice briefs are harder than the official ones</a:t>
            </a:r>
            <a:endParaRPr lang="en-US" sz="1600" dirty="0"/>
          </a:p>
          <a:p>
            <a:pPr marL="342900" indent="-342900">
              <a:spcAft>
                <a:spcPts val="1000"/>
              </a:spcAft>
              <a:buSzPct val="100000"/>
              <a:buChar char="•"/>
            </a:pPr>
            <a:r>
              <a:rPr lang="en-US" sz="1600" dirty="0">
                <a:solidFill>
                  <a:schemeClr val="tx1"/>
                </a:solidFill>
              </a:rPr>
              <a:t>Platform speed is the main risk: 4 of 623 promise calls ended in silence</a:t>
            </a:r>
            <a:endParaRPr lang="en-US" sz="1600" dirty="0"/>
          </a:p>
        </p:txBody>
      </p:sp>
      <p:sp>
        <p:nvSpPr>
          <p:cNvPr id="8" name="limits head"/>
          <p:cNvSpPr txBox="1"/>
          <p:nvPr/>
        </p:nvSpPr>
        <p:spPr>
          <a:xfrm>
            <a:off x="4892040" y="1325880"/>
            <a:ext cx="3474720" cy="365760"/>
          </a:xfrm>
          <a:prstGeom prst="rect">
            <a:avLst/>
          </a:prstGeom>
          <a:noFill/>
          <a:ln/>
        </p:spPr>
        <p:txBody>
          <a:bodyPr wrap="square" lIns="0" tIns="0" rIns="0" bIns="0" rtlCol="0" anchor="ctr"/>
          <a:lstStyle/>
          <a:p>
            <a:pPr indent="0" marL="0">
              <a:buNone/>
            </a:pPr>
            <a:r>
              <a:rPr lang="en-US" sz="1800" b="1" dirty="0">
                <a:solidFill>
                  <a:schemeClr val="accent3"/>
                </a:solidFill>
              </a:rPr>
              <a:t>Honest limits</a:t>
            </a:r>
            <a:endParaRPr lang="en-US" sz="1800" dirty="0"/>
          </a:p>
        </p:txBody>
      </p:sp>
      <p:sp>
        <p:nvSpPr>
          <p:cNvPr id="9" name="limits body"/>
          <p:cNvSpPr txBox="1"/>
          <p:nvPr/>
        </p:nvSpPr>
        <p:spPr>
          <a:xfrm>
            <a:off x="4892040" y="1783080"/>
            <a:ext cx="3474720" cy="26517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About 10 steps after "Yes, I confirm"; the reference agent needs about 3</a:t>
            </a:r>
            <a:endParaRPr lang="en-US" sz="1600" dirty="0"/>
          </a:p>
          <a:p>
            <a:pPr marL="342900" indent="-342900">
              <a:spcAft>
                <a:spcPts val="1000"/>
              </a:spcAft>
              <a:buSzPct val="100000"/>
              <a:buChar char="•"/>
            </a:pPr>
            <a:r>
              <a:rPr lang="en-US" sz="1600" dirty="0">
                <a:solidFill>
                  <a:schemeClr val="tx1"/>
                </a:solidFill>
              </a:rPr>
              <a:t>close_call is not set when the customer hangs up</a:t>
            </a:r>
            <a:endParaRPr lang="en-US" sz="1600" dirty="0"/>
          </a:p>
          <a:p>
            <a:pPr marL="342900" indent="-342900">
              <a:spcAft>
                <a:spcPts val="1000"/>
              </a:spcAft>
              <a:buSzPct val="100000"/>
              <a:buChar char="•"/>
            </a:pPr>
            <a:r>
              <a:rPr lang="en-US" sz="1600" dirty="0">
                <a:solidFill>
                  <a:schemeClr val="tx1"/>
                </a:solidFill>
              </a:rPr>
              <a:t>Multi-product engine defects found by review, with cases written for them</a:t>
            </a:r>
            <a:endParaRPr lang="en-US" sz="16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Every run leaves a trace</a:t>
            </a:r>
            <a:endParaRPr lang="en-US" sz="3400" dirty="0"/>
          </a:p>
        </p:txBody>
      </p:sp>
      <p:sp>
        <p:nvSpPr>
          <p:cNvPr id="4" name="trace Trace"/>
          <p:cNvSpPr/>
          <p:nvPr/>
        </p:nvSpPr>
        <p:spPr>
          <a:xfrm>
            <a:off x="548640" y="1188720"/>
            <a:ext cx="2560320" cy="265176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trace head Trace"/>
          <p:cNvSpPr txBox="1"/>
          <p:nvPr/>
        </p:nvSpPr>
        <p:spPr>
          <a:xfrm>
            <a:off x="731520" y="1325880"/>
            <a:ext cx="2194560" cy="411480"/>
          </a:xfrm>
          <a:prstGeom prst="rect">
            <a:avLst/>
          </a:prstGeom>
          <a:noFill/>
          <a:ln/>
        </p:spPr>
        <p:txBody>
          <a:bodyPr wrap="square" lIns="0" tIns="0" rIns="0" bIns="0" rtlCol="0" anchor="ctr"/>
          <a:lstStyle/>
          <a:p>
            <a:pPr indent="0" marL="0">
              <a:buNone/>
            </a:pPr>
            <a:r>
              <a:rPr lang="en-US" sz="2000" b="1" dirty="0">
                <a:solidFill>
                  <a:schemeClr val="accent2"/>
                </a:solidFill>
              </a:rPr>
              <a:t>Trace</a:t>
            </a:r>
            <a:endParaRPr lang="en-US" sz="2000" dirty="0"/>
          </a:p>
        </p:txBody>
      </p:sp>
      <p:sp>
        <p:nvSpPr>
          <p:cNvPr id="6" name="trace path Trace"/>
          <p:cNvSpPr txBox="1"/>
          <p:nvPr/>
        </p:nvSpPr>
        <p:spPr>
          <a:xfrm>
            <a:off x="731520" y="1783080"/>
            <a:ext cx="2194560" cy="502920"/>
          </a:xfrm>
          <a:prstGeom prst="rect">
            <a:avLst/>
          </a:prstGeom>
          <a:noFill/>
          <a:ln/>
        </p:spPr>
        <p:txBody>
          <a:bodyPr wrap="square" lIns="0" tIns="0" rIns="0" bIns="0" rtlCol="0" anchor="t"/>
          <a:lstStyle/>
          <a:p>
            <a:pPr indent="0" marL="0">
              <a:buNone/>
            </a:pPr>
            <a:r>
              <a:rPr lang="en-US" sz="1200" b="1" dirty="0">
                <a:solidFill>
                  <a:schemeClr val="tx1"/>
                </a:solidFill>
              </a:rPr>
              <a:t>traces/&lt;slot&gt;-&lt;time&gt;.jsonl</a:t>
            </a:r>
            <a:endParaRPr lang="en-US" sz="1200" dirty="0"/>
          </a:p>
        </p:txBody>
      </p:sp>
      <p:sp>
        <p:nvSpPr>
          <p:cNvPr id="7" name="trace text Trace"/>
          <p:cNvSpPr txBox="1"/>
          <p:nvPr/>
        </p:nvSpPr>
        <p:spPr>
          <a:xfrm>
            <a:off x="731520" y="2331720"/>
            <a:ext cx="2194560" cy="1554480"/>
          </a:xfrm>
          <a:prstGeom prst="rect">
            <a:avLst/>
          </a:prstGeom>
          <a:noFill/>
          <a:ln/>
        </p:spPr>
        <p:txBody>
          <a:bodyPr wrap="square" lIns="0" tIns="0" rIns="0" bIns="0" rtlCol="0" anchor="t"/>
          <a:lstStyle/>
          <a:p>
            <a:pPr indent="0" marL="0">
              <a:buNone/>
            </a:pPr>
            <a:r>
              <a:rPr lang="en-US" sz="1300" dirty="0">
                <a:solidFill>
                  <a:schemeClr val="tx1"/>
                </a:solidFill>
              </a:rPr>
              <a:t>start, model_call with purpose, test with output, deployed, created, end. Errors and watchdog events too.</a:t>
            </a:r>
            <a:endParaRPr lang="en-US" sz="1300" dirty="0"/>
          </a:p>
        </p:txBody>
      </p:sp>
      <p:sp>
        <p:nvSpPr>
          <p:cNvPr id="8" name="trace Raw dump"/>
          <p:cNvSpPr/>
          <p:nvPr/>
        </p:nvSpPr>
        <p:spPr>
          <a:xfrm>
            <a:off x="3291840" y="1188720"/>
            <a:ext cx="2560320" cy="265176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9" name="trace head Raw dump"/>
          <p:cNvSpPr txBox="1"/>
          <p:nvPr/>
        </p:nvSpPr>
        <p:spPr>
          <a:xfrm>
            <a:off x="3474720" y="1325880"/>
            <a:ext cx="2194560" cy="411480"/>
          </a:xfrm>
          <a:prstGeom prst="rect">
            <a:avLst/>
          </a:prstGeom>
          <a:noFill/>
          <a:ln/>
        </p:spPr>
        <p:txBody>
          <a:bodyPr wrap="square" lIns="0" tIns="0" rIns="0" bIns="0" rtlCol="0" anchor="ctr"/>
          <a:lstStyle/>
          <a:p>
            <a:pPr indent="0" marL="0">
              <a:buNone/>
            </a:pPr>
            <a:r>
              <a:rPr lang="en-US" sz="2000" b="1" dirty="0">
                <a:solidFill>
                  <a:schemeClr val="accent2"/>
                </a:solidFill>
              </a:rPr>
              <a:t>Raw dump</a:t>
            </a:r>
            <a:endParaRPr lang="en-US" sz="2000" dirty="0"/>
          </a:p>
        </p:txBody>
      </p:sp>
      <p:sp>
        <p:nvSpPr>
          <p:cNvPr id="10" name="trace path Raw dump"/>
          <p:cNvSpPr txBox="1"/>
          <p:nvPr/>
        </p:nvSpPr>
        <p:spPr>
          <a:xfrm>
            <a:off x="3474720" y="1783080"/>
            <a:ext cx="2194560" cy="502920"/>
          </a:xfrm>
          <a:prstGeom prst="rect">
            <a:avLst/>
          </a:prstGeom>
          <a:noFill/>
          <a:ln/>
        </p:spPr>
        <p:txBody>
          <a:bodyPr wrap="square" lIns="0" tIns="0" rIns="0" bIns="0" rtlCol="0" anchor="t"/>
          <a:lstStyle/>
          <a:p>
            <a:pPr indent="0" marL="0">
              <a:buNone/>
            </a:pPr>
            <a:r>
              <a:rPr lang="en-US" sz="1200" b="1" dirty="0">
                <a:solidFill>
                  <a:schemeClr val="tx1"/>
                </a:solidFill>
              </a:rPr>
              <a:t>agent.jsonl in the run folder</a:t>
            </a:r>
            <a:endParaRPr lang="en-US" sz="1200" dirty="0"/>
          </a:p>
        </p:txBody>
      </p:sp>
      <p:sp>
        <p:nvSpPr>
          <p:cNvPr id="11" name="trace text Raw dump"/>
          <p:cNvSpPr txBox="1"/>
          <p:nvPr/>
        </p:nvSpPr>
        <p:spPr>
          <a:xfrm>
            <a:off x="3474720" y="2331720"/>
            <a:ext cx="2194560" cy="1554480"/>
          </a:xfrm>
          <a:prstGeom prst="rect">
            <a:avLst/>
          </a:prstGeom>
          <a:noFill/>
          <a:ln/>
        </p:spPr>
        <p:txBody>
          <a:bodyPr wrap="square" lIns="0" tIns="0" rIns="0" bIns="0" rtlCol="0" anchor="t"/>
          <a:lstStyle/>
          <a:p>
            <a:pPr indent="0" marL="0">
              <a:buNone/>
            </a:pPr>
            <a:r>
              <a:rPr lang="en-US" sz="1300" dirty="0">
                <a:solidFill>
                  <a:schemeClr val="tx1"/>
                </a:solidFill>
              </a:rPr>
              <a:t>Every message: thinking, tool calls with inputs, tool results, final cost and turns.</a:t>
            </a:r>
            <a:endParaRPr lang="en-US" sz="1300" dirty="0"/>
          </a:p>
        </p:txBody>
      </p:sp>
      <p:sp>
        <p:nvSpPr>
          <p:cNvPr id="12" name="trace Result"/>
          <p:cNvSpPr/>
          <p:nvPr/>
        </p:nvSpPr>
        <p:spPr>
          <a:xfrm>
            <a:off x="6035040" y="1188720"/>
            <a:ext cx="2560320" cy="265176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3" name="trace head Result"/>
          <p:cNvSpPr txBox="1"/>
          <p:nvPr/>
        </p:nvSpPr>
        <p:spPr>
          <a:xfrm>
            <a:off x="6217920" y="1325880"/>
            <a:ext cx="2194560" cy="411480"/>
          </a:xfrm>
          <a:prstGeom prst="rect">
            <a:avLst/>
          </a:prstGeom>
          <a:noFill/>
          <a:ln/>
        </p:spPr>
        <p:txBody>
          <a:bodyPr wrap="square" lIns="0" tIns="0" rIns="0" bIns="0" rtlCol="0" anchor="ctr"/>
          <a:lstStyle/>
          <a:p>
            <a:pPr indent="0" marL="0">
              <a:buNone/>
            </a:pPr>
            <a:r>
              <a:rPr lang="en-US" sz="2000" b="1" dirty="0">
                <a:solidFill>
                  <a:schemeClr val="accent2"/>
                </a:solidFill>
              </a:rPr>
              <a:t>Result</a:t>
            </a:r>
            <a:endParaRPr lang="en-US" sz="2000" dirty="0"/>
          </a:p>
        </p:txBody>
      </p:sp>
      <p:sp>
        <p:nvSpPr>
          <p:cNvPr id="14" name="trace path Result"/>
          <p:cNvSpPr txBox="1"/>
          <p:nvPr/>
        </p:nvSpPr>
        <p:spPr>
          <a:xfrm>
            <a:off x="6217920" y="1783080"/>
            <a:ext cx="2194560" cy="502920"/>
          </a:xfrm>
          <a:prstGeom prst="rect">
            <a:avLst/>
          </a:prstGeom>
          <a:noFill/>
          <a:ln/>
        </p:spPr>
        <p:txBody>
          <a:bodyPr wrap="square" lIns="0" tIns="0" rIns="0" bIns="0" rtlCol="0" anchor="t"/>
          <a:lstStyle/>
          <a:p>
            <a:pPr indent="0" marL="0">
              <a:buNone/>
            </a:pPr>
            <a:r>
              <a:rPr lang="en-US" sz="1200" b="1" dirty="0">
                <a:solidFill>
                  <a:schemeClr val="tx1"/>
                </a:solidFill>
              </a:rPr>
              <a:t>submission/&lt;slot&gt;.workflow.json</a:t>
            </a:r>
            <a:endParaRPr lang="en-US" sz="1200" dirty="0"/>
          </a:p>
        </p:txBody>
      </p:sp>
      <p:sp>
        <p:nvSpPr>
          <p:cNvPr id="15" name="trace text Result"/>
          <p:cNvSpPr txBox="1"/>
          <p:nvPr/>
        </p:nvSpPr>
        <p:spPr>
          <a:xfrm>
            <a:off x="6217920" y="2331720"/>
            <a:ext cx="2194560" cy="1554480"/>
          </a:xfrm>
          <a:prstGeom prst="rect">
            <a:avLst/>
          </a:prstGeom>
          <a:noFill/>
          <a:ln/>
        </p:spPr>
        <p:txBody>
          <a:bodyPr wrap="square" lIns="0" tIns="0" rIns="0" bIns="0" rtlCol="0" anchor="t"/>
          <a:lstStyle/>
          <a:p>
            <a:pPr indent="0" marL="0">
              <a:buNone/>
            </a:pPr>
            <a:r>
              <a:rPr lang="en-US" sz="1300" dirty="0">
                <a:solidFill>
                  <a:schemeClr val="tx1"/>
                </a:solidFill>
              </a:rPr>
              <a:t>The exported phone agent, with workflow and agent ids in the trace.</a:t>
            </a:r>
            <a:endParaRPr lang="en-US" sz="1300" dirty="0"/>
          </a:p>
        </p:txBody>
      </p:sp>
      <p:sp>
        <p:nvSpPr>
          <p:cNvPr id="16" name="redaction"/>
          <p:cNvSpPr txBox="1"/>
          <p:nvPr/>
        </p:nvSpPr>
        <p:spPr>
          <a:xfrm>
            <a:off x="548640" y="4114800"/>
            <a:ext cx="8046720" cy="457200"/>
          </a:xfrm>
          <a:prstGeom prst="rect">
            <a:avLst/>
          </a:prstGeom>
          <a:noFill/>
          <a:ln/>
        </p:spPr>
        <p:txBody>
          <a:bodyPr wrap="square" lIns="0" tIns="0" rIns="0" bIns="0" rtlCol="0" anchor="ctr"/>
          <a:lstStyle/>
          <a:p>
            <a:pPr indent="0" marL="0">
              <a:buNone/>
            </a:pPr>
            <a:r>
              <a:rPr lang="en-US" sz="1400" i="1" dirty="0">
                <a:solidFill>
                  <a:schemeClr val="accent4"/>
                </a:solidFill>
              </a:rPr>
              <a:t>Keys matching fak_... or sk-ant-... and the configured secrets are redacted before anything is written.</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Built for the unseen final</a:t>
            </a:r>
            <a:endParaRPr lang="en-US" sz="3400" dirty="0"/>
          </a:p>
        </p:txBody>
      </p:sp>
      <p:sp>
        <p:nvSpPr>
          <p:cNvPr id="4" name="final Any input"/>
          <p:cNvSpPr/>
          <p:nvPr/>
        </p:nvSpPr>
        <p:spPr>
          <a:xfrm>
            <a:off x="548640" y="1188720"/>
            <a:ext cx="39319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final head Any input"/>
          <p:cNvSpPr txBox="1"/>
          <p:nvPr/>
        </p:nvSpPr>
        <p:spPr>
          <a:xfrm>
            <a:off x="777240" y="1325880"/>
            <a:ext cx="3474720" cy="411480"/>
          </a:xfrm>
          <a:prstGeom prst="rect">
            <a:avLst/>
          </a:prstGeom>
          <a:noFill/>
          <a:ln/>
        </p:spPr>
        <p:txBody>
          <a:bodyPr wrap="square" lIns="0" tIns="0" rIns="0" bIns="0" rtlCol="0" anchor="ctr"/>
          <a:lstStyle/>
          <a:p>
            <a:pPr indent="0" marL="0">
              <a:buNone/>
            </a:pPr>
            <a:r>
              <a:rPr lang="en-US" sz="1800" b="1" dirty="0">
                <a:solidFill>
                  <a:schemeClr val="accent2"/>
                </a:solidFill>
              </a:rPr>
              <a:t>Any input</a:t>
            </a:r>
            <a:endParaRPr lang="en-US" sz="1800" dirty="0"/>
          </a:p>
        </p:txBody>
      </p:sp>
      <p:sp>
        <p:nvSpPr>
          <p:cNvPr id="6" name="final text Any input"/>
          <p:cNvSpPr txBox="1"/>
          <p:nvPr/>
        </p:nvSpPr>
        <p:spPr>
          <a:xfrm>
            <a:off x="777240" y="1783080"/>
            <a:ext cx="3474720" cy="822960"/>
          </a:xfrm>
          <a:prstGeom prst="rect">
            <a:avLst/>
          </a:prstGeom>
          <a:noFill/>
          <a:ln/>
        </p:spPr>
        <p:txBody>
          <a:bodyPr wrap="square" lIns="0" tIns="0" rIns="0" bIns="0" rtlCol="0" anchor="t"/>
          <a:lstStyle/>
          <a:p>
            <a:pPr indent="0" marL="0">
              <a:buNone/>
            </a:pPr>
            <a:r>
              <a:rPr lang="en-US" sz="1400" dirty="0">
                <a:solidFill>
                  <a:schemeClr val="tx1"/>
                </a:solidFill>
              </a:rPr>
              <a:t>A folder of documents or a single brief, plus a tool API file or a live mock URL.</a:t>
            </a:r>
            <a:endParaRPr lang="en-US" sz="1400" dirty="0"/>
          </a:p>
        </p:txBody>
      </p:sp>
      <p:sp>
        <p:nvSpPr>
          <p:cNvPr id="7" name="final Any language"/>
          <p:cNvSpPr/>
          <p:nvPr/>
        </p:nvSpPr>
        <p:spPr>
          <a:xfrm>
            <a:off x="4663440" y="1188720"/>
            <a:ext cx="39319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8" name="final head Any language"/>
          <p:cNvSpPr txBox="1"/>
          <p:nvPr/>
        </p:nvSpPr>
        <p:spPr>
          <a:xfrm>
            <a:off x="4892040" y="1325880"/>
            <a:ext cx="3474720" cy="411480"/>
          </a:xfrm>
          <a:prstGeom prst="rect">
            <a:avLst/>
          </a:prstGeom>
          <a:noFill/>
          <a:ln/>
        </p:spPr>
        <p:txBody>
          <a:bodyPr wrap="square" lIns="0" tIns="0" rIns="0" bIns="0" rtlCol="0" anchor="ctr"/>
          <a:lstStyle/>
          <a:p>
            <a:pPr indent="0" marL="0">
              <a:buNone/>
            </a:pPr>
            <a:r>
              <a:rPr lang="en-US" sz="1800" b="1" dirty="0">
                <a:solidFill>
                  <a:schemeClr val="accent2"/>
                </a:solidFill>
              </a:rPr>
              <a:t>Any language</a:t>
            </a:r>
            <a:endParaRPr lang="en-US" sz="1800" dirty="0"/>
          </a:p>
        </p:txBody>
      </p:sp>
      <p:sp>
        <p:nvSpPr>
          <p:cNvPr id="9" name="final text Any language"/>
          <p:cNvSpPr txBox="1"/>
          <p:nvPr/>
        </p:nvSpPr>
        <p:spPr>
          <a:xfrm>
            <a:off x="4892040" y="1783080"/>
            <a:ext cx="3474720" cy="822960"/>
          </a:xfrm>
          <a:prstGeom prst="rect">
            <a:avLst/>
          </a:prstGeom>
          <a:noFill/>
          <a:ln/>
        </p:spPr>
        <p:txBody>
          <a:bodyPr wrap="square" lIns="0" tIns="0" rIns="0" bIns="0" rtlCol="0" anchor="t"/>
          <a:lstStyle/>
          <a:p>
            <a:pPr indent="0" marL="0">
              <a:buNone/>
            </a:pPr>
            <a:r>
              <a:rPr lang="en-US" sz="1400" dirty="0">
                <a:solidFill>
                  <a:schemeClr val="tx1"/>
                </a:solidFill>
              </a:rPr>
              <a:t>The phone agent speaks the brief's language; every fixed line is written in it.</a:t>
            </a:r>
            <a:endParaRPr lang="en-US" sz="1400" dirty="0"/>
          </a:p>
        </p:txBody>
      </p:sp>
      <p:sp>
        <p:nvSpPr>
          <p:cNvPr id="10" name="final Renamed fields"/>
          <p:cNvSpPr/>
          <p:nvPr/>
        </p:nvSpPr>
        <p:spPr>
          <a:xfrm>
            <a:off x="548640" y="2880360"/>
            <a:ext cx="39319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1" name="final head Renamed fields"/>
          <p:cNvSpPr txBox="1"/>
          <p:nvPr/>
        </p:nvSpPr>
        <p:spPr>
          <a:xfrm>
            <a:off x="777240" y="3017520"/>
            <a:ext cx="3474720" cy="411480"/>
          </a:xfrm>
          <a:prstGeom prst="rect">
            <a:avLst/>
          </a:prstGeom>
          <a:noFill/>
          <a:ln/>
        </p:spPr>
        <p:txBody>
          <a:bodyPr wrap="square" lIns="0" tIns="0" rIns="0" bIns="0" rtlCol="0" anchor="ctr"/>
          <a:lstStyle/>
          <a:p>
            <a:pPr indent="0" marL="0">
              <a:buNone/>
            </a:pPr>
            <a:r>
              <a:rPr lang="en-US" sz="1800" b="1" dirty="0">
                <a:solidFill>
                  <a:schemeClr val="accent2"/>
                </a:solidFill>
              </a:rPr>
              <a:t>Renamed fields</a:t>
            </a:r>
            <a:endParaRPr lang="en-US" sz="1800" dirty="0"/>
          </a:p>
        </p:txBody>
      </p:sp>
      <p:sp>
        <p:nvSpPr>
          <p:cNvPr id="12" name="final text Renamed fields"/>
          <p:cNvSpPr txBox="1"/>
          <p:nvPr/>
        </p:nvSpPr>
        <p:spPr>
          <a:xfrm>
            <a:off x="777240" y="3474720"/>
            <a:ext cx="3474720" cy="822960"/>
          </a:xfrm>
          <a:prstGeom prst="rect">
            <a:avLst/>
          </a:prstGeom>
          <a:noFill/>
          <a:ln/>
        </p:spPr>
        <p:txBody>
          <a:bodyPr wrap="square" lIns="0" tIns="0" rIns="0" bIns="0" rtlCol="0" anchor="t"/>
          <a:lstStyle/>
          <a:p>
            <a:pPr indent="0" marL="0">
              <a:buNone/>
            </a:pPr>
            <a:r>
              <a:rPr lang="en-US" sz="1400" dirty="0">
                <a:solidFill>
                  <a:schemeClr val="tx1"/>
                </a:solidFill>
              </a:rPr>
              <a:t>A baked field the API lacks stops the build. A test with renamed fields passed.</a:t>
            </a:r>
            <a:endParaRPr lang="en-US" sz="1400" dirty="0"/>
          </a:p>
        </p:txBody>
      </p:sp>
      <p:sp>
        <p:nvSpPr>
          <p:cNvPr id="13" name="final Next"/>
          <p:cNvSpPr/>
          <p:nvPr/>
        </p:nvSpPr>
        <p:spPr>
          <a:xfrm>
            <a:off x="4663440" y="2880360"/>
            <a:ext cx="3931920" cy="1508760"/>
          </a:xfrm>
          <a:prstGeom prst="roundRect">
            <a:avLst>
              <a:gd name="adj" fmla="val 4848"/>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14" name="final head Next"/>
          <p:cNvSpPr txBox="1"/>
          <p:nvPr/>
        </p:nvSpPr>
        <p:spPr>
          <a:xfrm>
            <a:off x="4892040" y="3017520"/>
            <a:ext cx="3474720" cy="411480"/>
          </a:xfrm>
          <a:prstGeom prst="rect">
            <a:avLst/>
          </a:prstGeom>
          <a:noFill/>
          <a:ln/>
        </p:spPr>
        <p:txBody>
          <a:bodyPr wrap="square" lIns="0" tIns="0" rIns="0" bIns="0" rtlCol="0" anchor="ctr"/>
          <a:lstStyle/>
          <a:p>
            <a:pPr indent="0" marL="0">
              <a:buNone/>
            </a:pPr>
            <a:r>
              <a:rPr lang="en-US" sz="1800" b="1" dirty="0">
                <a:solidFill>
                  <a:schemeClr val="accent1"/>
                </a:solidFill>
              </a:rPr>
              <a:t>Next</a:t>
            </a:r>
            <a:endParaRPr lang="en-US" sz="1800" dirty="0"/>
          </a:p>
        </p:txBody>
      </p:sp>
      <p:sp>
        <p:nvSpPr>
          <p:cNvPr id="15" name="final text Next"/>
          <p:cNvSpPr txBox="1"/>
          <p:nvPr/>
        </p:nvSpPr>
        <p:spPr>
          <a:xfrm>
            <a:off x="4892040" y="3474720"/>
            <a:ext cx="3474720" cy="822960"/>
          </a:xfrm>
          <a:prstGeom prst="rect">
            <a:avLst/>
          </a:prstGeom>
          <a:noFill/>
          <a:ln/>
        </p:spPr>
        <p:txBody>
          <a:bodyPr wrap="square" lIns="0" tIns="0" rIns="0" bIns="0" rtlCol="0" anchor="t"/>
          <a:lstStyle/>
          <a:p>
            <a:pPr indent="0" marL="0">
              <a:buNone/>
            </a:pPr>
            <a:r>
              <a:rPr lang="en-US" sz="1400" dirty="0">
                <a:solidFill>
                  <a:schemeClr val="bg1"/>
                </a:solidFill>
              </a:rPr>
              <a:t>Fewer steps after the confirm. close_call on hang-up. Multi-product engine fixes.</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t"/>
          <a:lstStyle/>
          <a:p>
            <a:pPr algn="l" indent="0" marL="0">
              <a:buNone/>
            </a:pPr>
            <a:r>
              <a:rPr lang="en-US" sz="4800" b="1" dirty="0">
                <a:solidFill>
                  <a:schemeClr val="bg1"/>
                </a:solidFill>
              </a:rPr>
              <a:t>Code decides. The model understands.</a:t>
            </a:r>
            <a:endParaRPr lang="en-US" sz="4800" dirty="0"/>
          </a:p>
        </p:txBody>
      </p:sp>
      <p:sp>
        <p:nvSpPr>
          <p:cNvPr id="3" name="questions"/>
          <p:cNvSpPr txBox="1"/>
          <p:nvPr/>
        </p:nvSpPr>
        <p:spPr>
          <a:xfrm>
            <a:off x="548640" y="3383280"/>
            <a:ext cx="5486400" cy="457200"/>
          </a:xfrm>
          <a:prstGeom prst="rect">
            <a:avLst/>
          </a:prstGeom>
          <a:noFill/>
          <a:ln/>
        </p:spPr>
        <p:txBody>
          <a:bodyPr wrap="square" lIns="0" tIns="0" rIns="0" bIns="0" rtlCol="0" anchor="ctr"/>
          <a:lstStyle/>
          <a:p>
            <a:pPr indent="0" marL="0">
              <a:buNone/>
            </a:pPr>
            <a:r>
              <a:rPr lang="en-US" sz="2200" dirty="0">
                <a:solidFill>
                  <a:schemeClr val="accent1"/>
                </a:solidFill>
              </a:rPr>
              <a:t>Questions</a:t>
            </a:r>
            <a:endParaRPr lang="en-US" sz="2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Builder">
  <a:themeElements>
    <a:clrScheme name="Builder">
      <a:dk1>
        <a:srgbClr val="0E1F24"/>
      </a:dk1>
      <a:lt1>
        <a:srgbClr val="FFFFFF"/>
      </a:lt1>
      <a:dk2>
        <a:srgbClr val="163A41"/>
      </a:dk2>
      <a:lt2>
        <a:srgbClr val="EDF3F2"/>
      </a:lt2>
      <a:accent1>
        <a:srgbClr val="F2A93B"/>
      </a:accent1>
      <a:accent2>
        <a:srgbClr val="2FA39A"/>
      </a:accent2>
      <a:accent3>
        <a:srgbClr val="E4572E"/>
      </a:accent3>
      <a:accent4>
        <a:srgbClr val="5B7C99"/>
      </a:accent4>
      <a:accent5>
        <a:srgbClr val="8FB8AE"/>
      </a:accent5>
      <a:accent6>
        <a:srgbClr val="C9D6D3"/>
      </a:accent6>
      <a:hlink>
        <a:srgbClr val="2FA39A"/>
      </a:hlink>
      <a:folHlink>
        <a:srgbClr val="5B7C99"/>
      </a:folHlink>
    </a:clrScheme>
    <a:fontScheme name="Buil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Builder: a compiler, not a writer</dc:title>
  <dc:subject>PptxGenJS Presentation</dc:subject>
  <dc:creator>PptxGenJS</dc:creator>
  <cp:lastModifiedBy>PptxGenJS</cp:lastModifiedBy>
  <cp:revision>1</cp:revision>
  <dcterms:created xsi:type="dcterms:W3CDTF">2026-10-11T16:58:24Z</dcterms:created>
  <dcterms:modified xsi:type="dcterms:W3CDTF">2026-10-11T16:58:24Z</dcterms:modified>
</cp:coreProperties>
</file>